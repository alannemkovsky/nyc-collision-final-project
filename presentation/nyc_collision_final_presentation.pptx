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0-2.svg" ContentType="image/svg+xml"/>
  <Override PartName="/ppt/media/image-10-4.svg" ContentType="image/svg+xml"/>
  <Override PartName="/ppt/media/image-10-6.svg" ContentType="image/svg+xml"/>
  <Override PartName="/ppt/media/image-2-2.svg" ContentType="image/svg+xml"/>
  <Override PartName="/ppt/media/image-2-4.svg" ContentType="image/svg+xml"/>
  <Override PartName="/ppt/media/image-2-6.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4.svg" ContentType="image/svg+xml"/>
  <Override PartName="/ppt/media/image-5-2.svg" ContentType="image/svg+xml"/>
  <Override PartName="/ppt/media/image-5-4.svg" ContentType="image/svg+xml"/>
  <Override PartName="/ppt/media/image-5-6.svg" ContentType="image/svg+xml"/>
  <Override PartName="/ppt/media/image-7-2.svg" ContentType="image/svg+xml"/>
  <Override PartName="/ppt/media/image-7-4.svg" ContentType="image/svg+xml"/>
  <Override PartName="/ppt/media/image-7-6.svg" ContentType="image/svg+xml"/>
  <Override PartName="/ppt/media/image-8-4.svg" ContentType="image/svg+xml"/>
  <Override PartName="/ppt/media/image-9-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Alan Nemkovsky. For this project, I studied New York City motor vehicle collision records and asked whether we can predict when a reported crash produces at least one injury or fatality. The main idea is not just to use one crash table. I linked the crash records with vehicle-level and person-level records, then turned those linked tables into one collision-level modeling dataset. The headline result is that the best model, XGBoost, reached a PR-AUC of about 0.860 and a ROC-AUC of about 0.893 on crashes from 2025, which were held out from training. I’ll walk through the data, the leakage controls, the models, and what the results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simple: using the information available in these public NYC records, can we predict whether a crash is injury-producing? The target is defined at the crash level, so it equals one when the crash record reports at least one injury or fatality. A key part of the project is that the three CSV files all share a collision ID. I used that ID to join the crash, vehicle, and person data, but I did not simply join everything row by row. Instead, I aggregated vehicles and people up to one row per collision. The evaluation is also temporal: models learn from 2021 through 2024, then the final test is 2025. That makes the setup more realistic than a random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 was large. The crash file had about 2.26 million rows, the vehicle file had about 4.53 million rows, and the person file had about 5.95 million rows. After filtering to the modeling period and aggregating to the collision level, the final table had 513,035 rows and 94 columns. The positive class rate was about 40 percent, meaning injury-producing crashes were common enough to model, but the task was still imbalanced enough that accuracy alone would be misleading. I also kept the raw CSVs out of the GitHub package because they are large public files. The repo is designed so someone can download the same CSVs, place them locally, and rerun the full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modeling, I checked whether the data had structure. Two patterns stood out. First, the borough-by-hour heatmap shows that crash timing is not uniform. Different boroughs have different time profiles, which supports using temporal and location features. Second, the involvement figure shows that the number and type of linked records contain severity information. For example, collisions with certain vehicle or person involvement patterns have noticeably different injury rates. This is the first sign that the vehicle and person tables are not just extra data; they contain signal that the crash table alone does not fully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method decision was leakage control. Since the target is whether a crash produced an injury or fatality, I could not allow outcome descriptions to become predictors. So the final features came from three groups. The crash table provided context, like time, borough, ZIP group, coordinates, and contributing factors. The vehicle table provided aggregates like the number of vehicles, vehicle mix, and movement patterns. The person table provided aggregates like the number of people involved, road-user roles, age summaries, and pedestrian or cyclist involvement. But direct injury descriptions, bodily injury fields, complaint fields, ejection, emotional status, and injury counts were removed from the predictors. That makes the model a real prediction task rather than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I compared several models on the held-out 2025 data. The best model was the optional XGBoost model. It reached a PR-AUC of 0.860 and a ROC-AUC of 0.893. I focus on PR-AUC because it is more informative for this kind of binary outcome than raw accuracy. The model also had an F1 score of about 0.787 and recall of about 0.839. That means it was able to identify a large share of injury-producing crashes, although this is still a retrospective classifier and not something I would claim is ready for deployment. The important takeaway is that the learned models beat the dummy baseline by a wide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probably the most important result for the project design. The crash-only logistic regression model had a PR-AUC of about 0.656. When I added vehicle aggregates, performance increased to about 0.794. When I added person aggregates, it increased to about 0.829. With all linked features together, it reached about 0.846 for the logistic regression ablation. This shows that the relational workflow mattered. The vehicle and person tables are not just making the dataset bigger; they add information about who and what was involved in the collision, which helps explain injury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and confusion matrix help explain how the best model behaved. The important caution is that feature importance is not causation. A feature can be predictive because it captures location context, reporting patterns, exposure, road design, or the mix of road users. For example, person and vehicle involvement features are strongly predictive, but that does not mean the feature itself causes injury. It means that the linked record pattern contains information associated with injury-producing crashes. The confusion matrix also shows the tradeoff between precision and recall. The chosen threshold favors reasonably high recall, which makes sense for a safety-related classification task, but again, this should be interpreted as retrospective analysis rather than a real-time deployment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added an unsupervised section to move beyond classification. Here, I aggregated crash characteristics by ZIP-code group and used PCA plus K-Means to look for crash archetypes. The silhouette score selected two clusters among 61 ZIP-code groups. The clusters were not simply high-injury versus low-injury areas. Instead, they were more about crash composition. One cluster had higher shares of pedestrian involvement, bicyclist involvement, taxi involvement, weekend crashes, and late-night crashes. So the clustering is exploratory: it helps describe different crash profiles across the city, even when the overall injury rates are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main finding is that injury-producing crashes are meaningfully predictable from linked NYC administrative records. XGBoost performed best overall, but the ablation study is the strongest evidence for the project’s main contribution: vehicle and person aggregates substantially improved prediction over a crash-only model. At the same time, the limitations are important. These are reported crashes, not every traffic interaction. The dataset does not include exposure denominators like traffic volume, pedestrian volume, road geometry, or weather in this version. So the results should be interpreted as predictive associations, not causal conclusions. My final takeaway is that a leakage-controlled multi-table workflow can turn large public safety records into useful insight, while still being honest about what the data can and cannot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4" name="Text 2"/>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1</a:t>
            </a:r>
            <a:endParaRPr lang="en-US" sz="8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69680" y="777240"/>
            <a:ext cx="1920240" cy="109728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0" y="4434840"/>
            <a:ext cx="2194560" cy="1280160"/>
          </a:xfrm>
          <a:prstGeom prst="rect">
            <a:avLst/>
          </a:prstGeom>
        </p:spPr>
      </p:pic>
      <p:sp>
        <p:nvSpPr>
          <p:cNvPr id="7" name="Shape 3"/>
          <p:cNvSpPr/>
          <p:nvPr/>
        </p:nvSpPr>
        <p:spPr>
          <a:xfrm>
            <a:off x="502920" y="457200"/>
            <a:ext cx="411480" cy="411480"/>
          </a:xfrm>
          <a:prstGeom prst="ellipse">
            <a:avLst/>
          </a:prstGeom>
          <a:solidFill>
            <a:srgbClr val="0039A6"/>
          </a:solidFill>
          <a:ln w="12700">
            <a:solidFill>
              <a:srgbClr val="0039A6"/>
            </a:solidFill>
            <a:prstDash val="solid"/>
          </a:ln>
        </p:spPr>
        <p:txBody>
          <a:bodyPr/>
          <a:p/>
        </p:txBody>
      </p:sp>
      <p:sp>
        <p:nvSpPr>
          <p:cNvPr id="8" name="Text 4"/>
          <p:cNvSpPr/>
          <p:nvPr/>
        </p:nvSpPr>
        <p:spPr>
          <a:xfrm>
            <a:off x="502920" y="521208"/>
            <a:ext cx="411480" cy="228600"/>
          </a:xfrm>
          <a:prstGeom prst="rect">
            <a:avLst/>
          </a:prstGeom>
          <a:noFill/>
          <a:ln/>
        </p:spPr>
        <p:txBody>
          <a:bodyPr wrap="square" lIns="0" tIns="0" rIns="0" bIns="0" rtlCol="0" anchor="ctr"/>
          <a:lstStyle/>
          <a:p>
            <a:pPr algn="ctr" indent="0" marL="0">
              <a:buNone/>
            </a:pPr>
            <a:r>
              <a:rPr lang="en-US" sz="1400" b="1" dirty="0">
                <a:solidFill>
                  <a:srgbClr val="F7F9FB"/>
                </a:solidFill>
                <a:latin typeface="Aptos Display" pitchFamily="34" charset="0"/>
                <a:ea typeface="Aptos Display" pitchFamily="34" charset="-122"/>
                <a:cs typeface="Aptos Display" pitchFamily="34" charset="-120"/>
              </a:rPr>
              <a:t>A</a:t>
            </a:r>
            <a:endParaRPr lang="en-US" sz="1400" dirty="0"/>
          </a:p>
        </p:txBody>
      </p:sp>
      <p:sp>
        <p:nvSpPr>
          <p:cNvPr id="9" name="Shape 5"/>
          <p:cNvSpPr/>
          <p:nvPr/>
        </p:nvSpPr>
        <p:spPr>
          <a:xfrm>
            <a:off x="978408" y="457200"/>
            <a:ext cx="411480" cy="411480"/>
          </a:xfrm>
          <a:prstGeom prst="ellipse">
            <a:avLst/>
          </a:prstGeom>
          <a:solidFill>
            <a:srgbClr val="B933AD"/>
          </a:solidFill>
          <a:ln w="12700">
            <a:solidFill>
              <a:srgbClr val="B933AD"/>
            </a:solidFill>
            <a:prstDash val="solid"/>
          </a:ln>
        </p:spPr>
        <p:txBody>
          <a:bodyPr/>
          <a:p/>
        </p:txBody>
      </p:sp>
      <p:sp>
        <p:nvSpPr>
          <p:cNvPr id="10" name="Text 6"/>
          <p:cNvSpPr/>
          <p:nvPr/>
        </p:nvSpPr>
        <p:spPr>
          <a:xfrm>
            <a:off x="978408" y="521208"/>
            <a:ext cx="411480" cy="228600"/>
          </a:xfrm>
          <a:prstGeom prst="rect">
            <a:avLst/>
          </a:prstGeom>
          <a:noFill/>
          <a:ln/>
        </p:spPr>
        <p:txBody>
          <a:bodyPr wrap="square" lIns="0" tIns="0" rIns="0" bIns="0" rtlCol="0" anchor="ctr"/>
          <a:lstStyle/>
          <a:p>
            <a:pPr algn="ctr" indent="0" marL="0">
              <a:buNone/>
            </a:pPr>
            <a:r>
              <a:rPr lang="en-US" sz="1400" b="1" dirty="0">
                <a:solidFill>
                  <a:srgbClr val="F7F9FB"/>
                </a:solidFill>
                <a:latin typeface="Aptos Display" pitchFamily="34" charset="0"/>
                <a:ea typeface="Aptos Display" pitchFamily="34" charset="-122"/>
                <a:cs typeface="Aptos Display" pitchFamily="34" charset="-120"/>
              </a:rPr>
              <a:t>7</a:t>
            </a:r>
            <a:endParaRPr lang="en-US" sz="1400" dirty="0"/>
          </a:p>
        </p:txBody>
      </p:sp>
      <p:sp>
        <p:nvSpPr>
          <p:cNvPr id="11" name="Shape 7"/>
          <p:cNvSpPr/>
          <p:nvPr/>
        </p:nvSpPr>
        <p:spPr>
          <a:xfrm>
            <a:off x="1453896" y="457200"/>
            <a:ext cx="411480" cy="411480"/>
          </a:xfrm>
          <a:prstGeom prst="ellipse">
            <a:avLst/>
          </a:prstGeom>
          <a:solidFill>
            <a:srgbClr val="F3B700"/>
          </a:solidFill>
          <a:ln w="12700">
            <a:solidFill>
              <a:srgbClr val="F3B700"/>
            </a:solidFill>
            <a:prstDash val="solid"/>
          </a:ln>
        </p:spPr>
        <p:txBody>
          <a:bodyPr/>
          <a:p/>
        </p:txBody>
      </p:sp>
      <p:sp>
        <p:nvSpPr>
          <p:cNvPr id="12" name="Text 8"/>
          <p:cNvSpPr/>
          <p:nvPr/>
        </p:nvSpPr>
        <p:spPr>
          <a:xfrm>
            <a:off x="1453896" y="521208"/>
            <a:ext cx="411480" cy="228600"/>
          </a:xfrm>
          <a:prstGeom prst="rect">
            <a:avLst/>
          </a:prstGeom>
          <a:noFill/>
          <a:ln/>
        </p:spPr>
        <p:txBody>
          <a:bodyPr wrap="square" lIns="0" tIns="0" rIns="0" bIns="0" rtlCol="0" anchor="ctr"/>
          <a:lstStyle/>
          <a:p>
            <a:pPr algn="ctr" indent="0" marL="0">
              <a:buNone/>
            </a:pPr>
            <a:r>
              <a:rPr lang="en-US" sz="1400" b="1" dirty="0">
                <a:solidFill>
                  <a:srgbClr val="F7F9FB"/>
                </a:solidFill>
                <a:latin typeface="Aptos Display" pitchFamily="34" charset="0"/>
                <a:ea typeface="Aptos Display" pitchFamily="34" charset="-122"/>
                <a:cs typeface="Aptos Display" pitchFamily="34" charset="-120"/>
              </a:rPr>
              <a:t>Q</a:t>
            </a:r>
            <a:endParaRPr lang="en-US" sz="1400" dirty="0"/>
          </a:p>
        </p:txBody>
      </p:sp>
      <p:sp>
        <p:nvSpPr>
          <p:cNvPr id="13" name="Text 9"/>
          <p:cNvSpPr/>
          <p:nvPr/>
        </p:nvSpPr>
        <p:spPr>
          <a:xfrm>
            <a:off x="502920" y="1280160"/>
            <a:ext cx="6949440" cy="566928"/>
          </a:xfrm>
          <a:prstGeom prst="rect">
            <a:avLst/>
          </a:prstGeom>
          <a:noFill/>
          <a:ln/>
        </p:spPr>
        <p:txBody>
          <a:bodyPr wrap="square" lIns="0" tIns="0" rIns="0" bIns="0" rtlCol="0" anchor="ctr"/>
          <a:lstStyle/>
          <a:p>
            <a:pPr indent="0" marL="0">
              <a:buNone/>
            </a:pPr>
            <a:r>
              <a:rPr lang="en-US" sz="3200" b="1" dirty="0">
                <a:solidFill>
                  <a:srgbClr val="F7F9FB"/>
                </a:solidFill>
                <a:latin typeface="Aptos Display" pitchFamily="34" charset="0"/>
                <a:ea typeface="Aptos Display" pitchFamily="34" charset="-122"/>
                <a:cs typeface="Aptos Display" pitchFamily="34" charset="-120"/>
              </a:rPr>
              <a:t>Predicting Injury-Producing</a:t>
            </a:r>
            <a:endParaRPr lang="en-US" sz="3200" dirty="0"/>
          </a:p>
        </p:txBody>
      </p:sp>
      <p:sp>
        <p:nvSpPr>
          <p:cNvPr id="14" name="Text 10"/>
          <p:cNvSpPr/>
          <p:nvPr/>
        </p:nvSpPr>
        <p:spPr>
          <a:xfrm>
            <a:off x="502920" y="1901952"/>
            <a:ext cx="7680960" cy="658368"/>
          </a:xfrm>
          <a:prstGeom prst="rect">
            <a:avLst/>
          </a:prstGeom>
          <a:noFill/>
          <a:ln/>
        </p:spPr>
        <p:txBody>
          <a:bodyPr wrap="square" lIns="0" tIns="0" rIns="0" bIns="0" rtlCol="0" anchor="ctr"/>
          <a:lstStyle/>
          <a:p>
            <a:pPr indent="0" marL="0">
              <a:buNone/>
            </a:pPr>
            <a:r>
              <a:rPr lang="en-US" sz="3600" b="1" dirty="0">
                <a:solidFill>
                  <a:srgbClr val="FFC928"/>
                </a:solidFill>
                <a:latin typeface="Aptos Display" pitchFamily="34" charset="0"/>
                <a:ea typeface="Aptos Display" pitchFamily="34" charset="-122"/>
                <a:cs typeface="Aptos Display" pitchFamily="34" charset="-120"/>
              </a:rPr>
              <a:t>NYC Motor Vehicle Collisions</a:t>
            </a:r>
            <a:endParaRPr lang="en-US" sz="3600" dirty="0"/>
          </a:p>
        </p:txBody>
      </p:sp>
      <p:sp>
        <p:nvSpPr>
          <p:cNvPr id="15" name="Shape 11"/>
          <p:cNvSpPr/>
          <p:nvPr/>
        </p:nvSpPr>
        <p:spPr>
          <a:xfrm>
            <a:off x="530352" y="2697480"/>
            <a:ext cx="6172200" cy="0"/>
          </a:xfrm>
          <a:prstGeom prst="line">
            <a:avLst/>
          </a:prstGeom>
          <a:noFill/>
          <a:ln w="38100">
            <a:solidFill>
              <a:srgbClr val="0B6E4F"/>
            </a:solidFill>
            <a:prstDash val="solid"/>
          </a:ln>
        </p:spPr>
        <p:txBody>
          <a:bodyPr/>
          <a:p/>
        </p:txBody>
      </p:sp>
      <p:sp>
        <p:nvSpPr>
          <p:cNvPr id="16" name="Text 12"/>
          <p:cNvSpPr/>
          <p:nvPr/>
        </p:nvSpPr>
        <p:spPr>
          <a:xfrm>
            <a:off x="530352" y="3017520"/>
            <a:ext cx="5669280" cy="274320"/>
          </a:xfrm>
          <a:prstGeom prst="rect">
            <a:avLst/>
          </a:prstGeom>
          <a:noFill/>
          <a:ln/>
        </p:spPr>
        <p:txBody>
          <a:bodyPr wrap="square" lIns="0" tIns="0" rIns="0" bIns="0" rtlCol="0" anchor="ctr"/>
          <a:lstStyle/>
          <a:p>
            <a:pPr indent="0" marL="0">
              <a:buNone/>
            </a:pPr>
            <a:r>
              <a:rPr lang="en-US" sz="1500" dirty="0">
                <a:solidFill>
                  <a:srgbClr val="D7DEE8"/>
                </a:solidFill>
              </a:rPr>
              <a:t>Multi-table crash, vehicle, and person data</a:t>
            </a:r>
            <a:endParaRPr lang="en-US" sz="1500" dirty="0"/>
          </a:p>
        </p:txBody>
      </p:sp>
      <p:sp>
        <p:nvSpPr>
          <p:cNvPr id="17" name="Shape 13"/>
          <p:cNvSpPr/>
          <p:nvPr/>
        </p:nvSpPr>
        <p:spPr>
          <a:xfrm>
            <a:off x="548640" y="4023360"/>
            <a:ext cx="228600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18" name="Text 14"/>
          <p:cNvSpPr/>
          <p:nvPr/>
        </p:nvSpPr>
        <p:spPr>
          <a:xfrm>
            <a:off x="694944" y="4187952"/>
            <a:ext cx="199339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0.860</a:t>
            </a:r>
            <a:endParaRPr lang="en-US" sz="2000" dirty="0"/>
          </a:p>
        </p:txBody>
      </p:sp>
      <p:sp>
        <p:nvSpPr>
          <p:cNvPr id="19" name="Text 15"/>
          <p:cNvSpPr/>
          <p:nvPr/>
        </p:nvSpPr>
        <p:spPr>
          <a:xfrm>
            <a:off x="694944" y="4590288"/>
            <a:ext cx="199339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PR-AUC on held-out 2025 crashes</a:t>
            </a:r>
            <a:endParaRPr lang="en-US" sz="850" dirty="0"/>
          </a:p>
        </p:txBody>
      </p:sp>
      <p:sp>
        <p:nvSpPr>
          <p:cNvPr id="20" name="Shape 16"/>
          <p:cNvSpPr/>
          <p:nvPr/>
        </p:nvSpPr>
        <p:spPr>
          <a:xfrm>
            <a:off x="3063240" y="4023360"/>
            <a:ext cx="2148840" cy="960120"/>
          </a:xfrm>
          <a:prstGeom prst="roundRect">
            <a:avLst>
              <a:gd name="adj" fmla="val 7619"/>
            </a:avLst>
          </a:prstGeom>
          <a:solidFill>
            <a:srgbClr val="0B263D"/>
          </a:solidFill>
          <a:ln w="15240">
            <a:solidFill>
              <a:srgbClr val="0B6E4F">
                <a:alpha val="60000"/>
              </a:srgbClr>
            </a:solidFill>
            <a:prstDash val="solid"/>
          </a:ln>
        </p:spPr>
        <p:txBody>
          <a:bodyPr/>
          <a:p/>
        </p:txBody>
      </p:sp>
      <p:sp>
        <p:nvSpPr>
          <p:cNvPr id="21" name="Text 17"/>
          <p:cNvSpPr/>
          <p:nvPr/>
        </p:nvSpPr>
        <p:spPr>
          <a:xfrm>
            <a:off x="3209544" y="4187952"/>
            <a:ext cx="1856232" cy="320040"/>
          </a:xfrm>
          <a:prstGeom prst="rect">
            <a:avLst/>
          </a:prstGeom>
          <a:noFill/>
          <a:ln/>
        </p:spPr>
        <p:txBody>
          <a:bodyPr wrap="square" lIns="0" tIns="0" rIns="0" bIns="0" rtlCol="0" anchor="ctr"/>
          <a:lstStyle/>
          <a:p>
            <a:pPr indent="0" marL="0">
              <a:buNone/>
            </a:pPr>
            <a:r>
              <a:rPr lang="en-US" sz="2000" b="1" dirty="0">
                <a:solidFill>
                  <a:srgbClr val="0B6E4F"/>
                </a:solidFill>
                <a:latin typeface="Aptos Display" pitchFamily="34" charset="0"/>
                <a:ea typeface="Aptos Display" pitchFamily="34" charset="-122"/>
                <a:cs typeface="Aptos Display" pitchFamily="34" charset="-120"/>
              </a:rPr>
              <a:t>0.893</a:t>
            </a:r>
            <a:endParaRPr lang="en-US" sz="2000" dirty="0"/>
          </a:p>
        </p:txBody>
      </p:sp>
      <p:sp>
        <p:nvSpPr>
          <p:cNvPr id="22" name="Text 18"/>
          <p:cNvSpPr/>
          <p:nvPr/>
        </p:nvSpPr>
        <p:spPr>
          <a:xfrm>
            <a:off x="3209544" y="4590288"/>
            <a:ext cx="185623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ROC-AUC with XGBoost</a:t>
            </a:r>
            <a:endParaRPr lang="en-US" sz="850" dirty="0"/>
          </a:p>
        </p:txBody>
      </p:sp>
      <p:sp>
        <p:nvSpPr>
          <p:cNvPr id="23" name="Text 19"/>
          <p:cNvSpPr/>
          <p:nvPr/>
        </p:nvSpPr>
        <p:spPr>
          <a:xfrm>
            <a:off x="9144000" y="2286000"/>
            <a:ext cx="1828800" cy="411480"/>
          </a:xfrm>
          <a:prstGeom prst="rect">
            <a:avLst/>
          </a:prstGeom>
          <a:noFill/>
          <a:ln/>
        </p:spPr>
        <p:txBody>
          <a:bodyPr wrap="square" lIns="0" tIns="0" rIns="0" bIns="0" rtlCol="0" anchor="ctr"/>
          <a:lstStyle/>
          <a:p>
            <a:pPr indent="0" marL="0">
              <a:buNone/>
            </a:pPr>
            <a:r>
              <a:rPr lang="en-US" sz="2200" b="1" dirty="0">
                <a:solidFill>
                  <a:srgbClr val="F7F9FB"/>
                </a:solidFill>
                <a:latin typeface="Aptos Display" pitchFamily="34" charset="0"/>
                <a:ea typeface="Aptos Display" pitchFamily="34" charset="-122"/>
                <a:cs typeface="Aptos Display" pitchFamily="34" charset="-120"/>
              </a:rPr>
              <a:t>I ♥ NYC data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The question</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2</a:t>
            </a:r>
            <a:endParaRPr lang="en-US" sz="8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61120" y="822960"/>
            <a:ext cx="1005840" cy="1005840"/>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12680" y="731520"/>
            <a:ext cx="1463040" cy="1097280"/>
          </a:xfrm>
          <a:prstGeom prst="rect">
            <a:avLst/>
          </a:prstGeom>
        </p:spPr>
      </p:pic>
      <p:sp>
        <p:nvSpPr>
          <p:cNvPr id="8" name="Text 4"/>
          <p:cNvSpPr/>
          <p:nvPr/>
        </p:nvSpPr>
        <p:spPr>
          <a:xfrm>
            <a:off x="594360" y="1005840"/>
            <a:ext cx="7543800" cy="594360"/>
          </a:xfrm>
          <a:prstGeom prst="rect">
            <a:avLst/>
          </a:prstGeom>
          <a:noFill/>
          <a:ln/>
        </p:spPr>
        <p:txBody>
          <a:bodyPr wrap="square" lIns="0" tIns="0" rIns="0" bIns="0" rtlCol="0" anchor="ctr"/>
          <a:lstStyle/>
          <a:p>
            <a:pPr indent="0" marL="0">
              <a:buNone/>
            </a:pPr>
            <a:r>
              <a:rPr lang="en-US" sz="2800" b="1" dirty="0">
                <a:solidFill>
                  <a:srgbClr val="F7F9FB"/>
                </a:solidFill>
              </a:rPr>
              <a:t>Can linked NYC records predict injury-producing crashes?</a:t>
            </a:r>
            <a:endParaRPr lang="en-US" sz="2800" dirty="0"/>
          </a:p>
        </p:txBody>
      </p:sp>
      <p:sp>
        <p:nvSpPr>
          <p:cNvPr id="9" name="Text 5"/>
          <p:cNvSpPr/>
          <p:nvPr/>
        </p:nvSpPr>
        <p:spPr>
          <a:xfrm>
            <a:off x="685800" y="2057400"/>
            <a:ext cx="1097280" cy="256032"/>
          </a:xfrm>
          <a:prstGeom prst="rect">
            <a:avLst/>
          </a:prstGeom>
          <a:noFill/>
          <a:ln/>
        </p:spPr>
        <p:txBody>
          <a:bodyPr wrap="square" lIns="0" tIns="0" rIns="0" bIns="0" rtlCol="0" anchor="ctr"/>
          <a:lstStyle/>
          <a:p>
            <a:pPr indent="0" marL="0">
              <a:buNone/>
            </a:pPr>
            <a:r>
              <a:rPr lang="en-US" sz="1200" b="1" dirty="0">
                <a:solidFill>
                  <a:srgbClr val="FFC928"/>
                </a:solidFill>
              </a:rPr>
              <a:t>Target</a:t>
            </a:r>
            <a:endParaRPr lang="en-US" sz="1200" dirty="0"/>
          </a:p>
        </p:txBody>
      </p:sp>
      <p:sp>
        <p:nvSpPr>
          <p:cNvPr id="10" name="Text 6"/>
          <p:cNvSpPr/>
          <p:nvPr/>
        </p:nvSpPr>
        <p:spPr>
          <a:xfrm>
            <a:off x="685800" y="2377440"/>
            <a:ext cx="374904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injury_or_fatality = 1</a:t>
            </a:r>
            <a:endParaRPr lang="en-US" sz="2400" dirty="0"/>
          </a:p>
        </p:txBody>
      </p:sp>
      <p:sp>
        <p:nvSpPr>
          <p:cNvPr id="11" name="Text 7"/>
          <p:cNvSpPr/>
          <p:nvPr/>
        </p:nvSpPr>
        <p:spPr>
          <a:xfrm>
            <a:off x="713232" y="2889504"/>
            <a:ext cx="4846320" cy="228600"/>
          </a:xfrm>
          <a:prstGeom prst="rect">
            <a:avLst/>
          </a:prstGeom>
          <a:noFill/>
          <a:ln/>
        </p:spPr>
        <p:txBody>
          <a:bodyPr wrap="square" lIns="0" tIns="0" rIns="0" bIns="0" rtlCol="0" anchor="ctr"/>
          <a:lstStyle/>
          <a:p>
            <a:pPr indent="0" marL="0">
              <a:buNone/>
            </a:pPr>
            <a:r>
              <a:rPr lang="en-US" sz="1050" dirty="0">
                <a:solidFill>
                  <a:srgbClr val="D7DEE8"/>
                </a:solidFill>
              </a:rPr>
              <a:t>when at least one injury or fatality is recorded at the crash level</a:t>
            </a:r>
            <a:endParaRPr lang="en-US" sz="1050" dirty="0"/>
          </a:p>
        </p:txBody>
      </p:sp>
      <p:sp>
        <p:nvSpPr>
          <p:cNvPr id="12" name="Shape 8"/>
          <p:cNvSpPr/>
          <p:nvPr/>
        </p:nvSpPr>
        <p:spPr>
          <a:xfrm>
            <a:off x="713232" y="3886200"/>
            <a:ext cx="1371600" cy="310896"/>
          </a:xfrm>
          <a:prstGeom prst="roundRect">
            <a:avLst>
              <a:gd name="adj" fmla="val 17647"/>
            </a:avLst>
          </a:prstGeom>
          <a:solidFill>
            <a:srgbClr val="0039A6"/>
          </a:solidFill>
          <a:ln w="12700">
            <a:solidFill>
              <a:srgbClr val="0039A6"/>
            </a:solidFill>
            <a:prstDash val="solid"/>
          </a:ln>
        </p:spPr>
        <p:txBody>
          <a:bodyPr/>
          <a:p/>
        </p:txBody>
      </p:sp>
      <p:sp>
        <p:nvSpPr>
          <p:cNvPr id="13" name="Text 9"/>
          <p:cNvSpPr/>
          <p:nvPr/>
        </p:nvSpPr>
        <p:spPr>
          <a:xfrm>
            <a:off x="713232" y="3941064"/>
            <a:ext cx="1371600" cy="146304"/>
          </a:xfrm>
          <a:prstGeom prst="rect">
            <a:avLst/>
          </a:prstGeom>
          <a:noFill/>
          <a:ln/>
        </p:spPr>
        <p:txBody>
          <a:bodyPr wrap="square" lIns="0" tIns="0" rIns="0" bIns="0" rtlCol="0" anchor="ctr"/>
          <a:lstStyle/>
          <a:p>
            <a:pPr algn="ctr" indent="0" marL="0">
              <a:buNone/>
            </a:pPr>
            <a:r>
              <a:rPr lang="en-US" sz="800" b="1" dirty="0">
                <a:solidFill>
                  <a:srgbClr val="F7F9FB"/>
                </a:solidFill>
              </a:rPr>
              <a:t>Crash table</a:t>
            </a:r>
            <a:endParaRPr lang="en-US" sz="800" dirty="0"/>
          </a:p>
        </p:txBody>
      </p:sp>
      <p:sp>
        <p:nvSpPr>
          <p:cNvPr id="14" name="Shape 10"/>
          <p:cNvSpPr/>
          <p:nvPr/>
        </p:nvSpPr>
        <p:spPr>
          <a:xfrm>
            <a:off x="2267712" y="3886200"/>
            <a:ext cx="1554480" cy="310896"/>
          </a:xfrm>
          <a:prstGeom prst="roundRect">
            <a:avLst>
              <a:gd name="adj" fmla="val 17647"/>
            </a:avLst>
          </a:prstGeom>
          <a:solidFill>
            <a:srgbClr val="0B6E4F"/>
          </a:solidFill>
          <a:ln w="12700">
            <a:solidFill>
              <a:srgbClr val="0B6E4F"/>
            </a:solidFill>
            <a:prstDash val="solid"/>
          </a:ln>
        </p:spPr>
        <p:txBody>
          <a:bodyPr/>
          <a:p/>
        </p:txBody>
      </p:sp>
      <p:sp>
        <p:nvSpPr>
          <p:cNvPr id="15" name="Text 11"/>
          <p:cNvSpPr/>
          <p:nvPr/>
        </p:nvSpPr>
        <p:spPr>
          <a:xfrm>
            <a:off x="2267712" y="3941064"/>
            <a:ext cx="1554480" cy="146304"/>
          </a:xfrm>
          <a:prstGeom prst="rect">
            <a:avLst/>
          </a:prstGeom>
          <a:noFill/>
          <a:ln/>
        </p:spPr>
        <p:txBody>
          <a:bodyPr wrap="square" lIns="0" tIns="0" rIns="0" bIns="0" rtlCol="0" anchor="ctr"/>
          <a:lstStyle/>
          <a:p>
            <a:pPr algn="ctr" indent="0" marL="0">
              <a:buNone/>
            </a:pPr>
            <a:r>
              <a:rPr lang="en-US" sz="800" b="1" dirty="0">
                <a:solidFill>
                  <a:srgbClr val="F7F9FB"/>
                </a:solidFill>
              </a:rPr>
              <a:t>Vehicle table</a:t>
            </a:r>
            <a:endParaRPr lang="en-US" sz="800" dirty="0"/>
          </a:p>
        </p:txBody>
      </p:sp>
      <p:sp>
        <p:nvSpPr>
          <p:cNvPr id="16" name="Shape 12"/>
          <p:cNvSpPr/>
          <p:nvPr/>
        </p:nvSpPr>
        <p:spPr>
          <a:xfrm>
            <a:off x="4005072" y="3886200"/>
            <a:ext cx="1417320" cy="310896"/>
          </a:xfrm>
          <a:prstGeom prst="roundRect">
            <a:avLst>
              <a:gd name="adj" fmla="val 17647"/>
            </a:avLst>
          </a:prstGeom>
          <a:solidFill>
            <a:srgbClr val="EE352E"/>
          </a:solidFill>
          <a:ln w="12700">
            <a:solidFill>
              <a:srgbClr val="EE352E"/>
            </a:solidFill>
            <a:prstDash val="solid"/>
          </a:ln>
        </p:spPr>
        <p:txBody>
          <a:bodyPr/>
          <a:p/>
        </p:txBody>
      </p:sp>
      <p:sp>
        <p:nvSpPr>
          <p:cNvPr id="17" name="Text 13"/>
          <p:cNvSpPr/>
          <p:nvPr/>
        </p:nvSpPr>
        <p:spPr>
          <a:xfrm>
            <a:off x="4005072" y="3941064"/>
            <a:ext cx="1417320" cy="146304"/>
          </a:xfrm>
          <a:prstGeom prst="rect">
            <a:avLst/>
          </a:prstGeom>
          <a:noFill/>
          <a:ln/>
        </p:spPr>
        <p:txBody>
          <a:bodyPr wrap="square" lIns="0" tIns="0" rIns="0" bIns="0" rtlCol="0" anchor="ctr"/>
          <a:lstStyle/>
          <a:p>
            <a:pPr algn="ctr" indent="0" marL="0">
              <a:buNone/>
            </a:pPr>
            <a:r>
              <a:rPr lang="en-US" sz="800" b="1" dirty="0">
                <a:solidFill>
                  <a:srgbClr val="F7F9FB"/>
                </a:solidFill>
              </a:rPr>
              <a:t>Person table</a:t>
            </a:r>
            <a:endParaRPr lang="en-US" sz="800" dirty="0"/>
          </a:p>
        </p:txBody>
      </p:sp>
      <p:sp>
        <p:nvSpPr>
          <p:cNvPr id="18" name="Shape 14"/>
          <p:cNvSpPr/>
          <p:nvPr/>
        </p:nvSpPr>
        <p:spPr>
          <a:xfrm>
            <a:off x="1737360" y="4041648"/>
            <a:ext cx="411480" cy="0"/>
          </a:xfrm>
          <a:prstGeom prst="line">
            <a:avLst/>
          </a:prstGeom>
          <a:noFill/>
          <a:ln w="16510">
            <a:solidFill>
              <a:srgbClr val="AAB7C4"/>
            </a:solidFill>
            <a:prstDash val="solid"/>
            <a:headEnd type="none"/>
            <a:tailEnd type="triangle"/>
          </a:ln>
        </p:spPr>
        <p:txBody>
          <a:bodyPr/>
          <a:p/>
        </p:txBody>
      </p:sp>
      <p:sp>
        <p:nvSpPr>
          <p:cNvPr id="19" name="Shape 15"/>
          <p:cNvSpPr/>
          <p:nvPr/>
        </p:nvSpPr>
        <p:spPr>
          <a:xfrm>
            <a:off x="3840480" y="4041648"/>
            <a:ext cx="137160" cy="0"/>
          </a:xfrm>
          <a:prstGeom prst="line">
            <a:avLst/>
          </a:prstGeom>
          <a:noFill/>
          <a:ln w="16510">
            <a:solidFill>
              <a:srgbClr val="AAB7C4"/>
            </a:solidFill>
            <a:prstDash val="solid"/>
            <a:headEnd type="none"/>
            <a:tailEnd type="triangle"/>
          </a:ln>
        </p:spPr>
        <p:txBody>
          <a:bodyPr/>
          <a:p/>
        </p:txBody>
      </p:sp>
      <p:sp>
        <p:nvSpPr>
          <p:cNvPr id="20" name="Text 16"/>
          <p:cNvSpPr/>
          <p:nvPr/>
        </p:nvSpPr>
        <p:spPr>
          <a:xfrm>
            <a:off x="6537960" y="3593592"/>
            <a:ext cx="3383280" cy="301752"/>
          </a:xfrm>
          <a:prstGeom prst="rect">
            <a:avLst/>
          </a:prstGeom>
          <a:noFill/>
          <a:ln/>
        </p:spPr>
        <p:txBody>
          <a:bodyPr wrap="square" lIns="0" tIns="0" rIns="0" bIns="0" rtlCol="0" anchor="ctr"/>
          <a:lstStyle/>
          <a:p>
            <a:pPr indent="0" marL="0">
              <a:buNone/>
            </a:pPr>
            <a:r>
              <a:rPr lang="en-US" sz="1800" b="1" dirty="0">
                <a:solidFill>
                  <a:srgbClr val="FFC928"/>
                </a:solidFill>
              </a:rPr>
              <a:t>One row per collision</a:t>
            </a:r>
            <a:endParaRPr lang="en-US" sz="1800" dirty="0"/>
          </a:p>
        </p:txBody>
      </p:sp>
      <p:sp>
        <p:nvSpPr>
          <p:cNvPr id="21" name="Text 17"/>
          <p:cNvSpPr/>
          <p:nvPr/>
        </p:nvSpPr>
        <p:spPr>
          <a:xfrm>
            <a:off x="6537960" y="4041648"/>
            <a:ext cx="3931920" cy="201168"/>
          </a:xfrm>
          <a:prstGeom prst="rect">
            <a:avLst/>
          </a:prstGeom>
          <a:noFill/>
          <a:ln/>
        </p:spPr>
        <p:txBody>
          <a:bodyPr wrap="square" lIns="0" tIns="0" rIns="0" bIns="0" rtlCol="0" anchor="ctr"/>
          <a:lstStyle/>
          <a:p>
            <a:pPr indent="0" marL="0">
              <a:buNone/>
            </a:pPr>
            <a:r>
              <a:rPr lang="en-US" sz="1100" dirty="0">
                <a:solidFill>
                  <a:srgbClr val="D7DEE8"/>
                </a:solidFill>
              </a:rPr>
              <a:t>Temporal test: train 2021–2024, test 2025</a:t>
            </a:r>
            <a:endParaRPr lang="en-US" sz="11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07040" y="4343400"/>
            <a:ext cx="685800"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Data footprint</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3</a:t>
            </a:r>
            <a:endParaRPr lang="en-US" sz="8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5640" y="256032"/>
            <a:ext cx="731520" cy="731520"/>
          </a:xfrm>
          <a:prstGeom prst="rect">
            <a:avLst/>
          </a:prstGeom>
        </p:spPr>
      </p:pic>
      <p:sp>
        <p:nvSpPr>
          <p:cNvPr id="7" name="Shape 4"/>
          <p:cNvSpPr/>
          <p:nvPr/>
        </p:nvSpPr>
        <p:spPr>
          <a:xfrm>
            <a:off x="594360" y="1143000"/>
            <a:ext cx="196596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8" name="Text 5"/>
          <p:cNvSpPr/>
          <p:nvPr/>
        </p:nvSpPr>
        <p:spPr>
          <a:xfrm>
            <a:off x="740664" y="1307592"/>
            <a:ext cx="167335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2.26M</a:t>
            </a:r>
            <a:endParaRPr lang="en-US" sz="2000" dirty="0"/>
          </a:p>
        </p:txBody>
      </p:sp>
      <p:sp>
        <p:nvSpPr>
          <p:cNvPr id="9" name="Text 6"/>
          <p:cNvSpPr/>
          <p:nvPr/>
        </p:nvSpPr>
        <p:spPr>
          <a:xfrm>
            <a:off x="740664" y="1709928"/>
            <a:ext cx="167335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crash rows</a:t>
            </a:r>
            <a:endParaRPr lang="en-US" sz="850" dirty="0"/>
          </a:p>
        </p:txBody>
      </p:sp>
      <p:sp>
        <p:nvSpPr>
          <p:cNvPr id="10" name="Shape 7"/>
          <p:cNvSpPr/>
          <p:nvPr/>
        </p:nvSpPr>
        <p:spPr>
          <a:xfrm>
            <a:off x="2788920" y="1143000"/>
            <a:ext cx="1965960" cy="960120"/>
          </a:xfrm>
          <a:prstGeom prst="roundRect">
            <a:avLst>
              <a:gd name="adj" fmla="val 7619"/>
            </a:avLst>
          </a:prstGeom>
          <a:solidFill>
            <a:srgbClr val="0B263D"/>
          </a:solidFill>
          <a:ln w="15240">
            <a:solidFill>
              <a:srgbClr val="0B6E4F">
                <a:alpha val="60000"/>
              </a:srgbClr>
            </a:solidFill>
            <a:prstDash val="solid"/>
          </a:ln>
        </p:spPr>
        <p:txBody>
          <a:bodyPr/>
          <a:p/>
        </p:txBody>
      </p:sp>
      <p:sp>
        <p:nvSpPr>
          <p:cNvPr id="11" name="Text 8"/>
          <p:cNvSpPr/>
          <p:nvPr/>
        </p:nvSpPr>
        <p:spPr>
          <a:xfrm>
            <a:off x="2935224" y="1307592"/>
            <a:ext cx="1673352" cy="320040"/>
          </a:xfrm>
          <a:prstGeom prst="rect">
            <a:avLst/>
          </a:prstGeom>
          <a:noFill/>
          <a:ln/>
        </p:spPr>
        <p:txBody>
          <a:bodyPr wrap="square" lIns="0" tIns="0" rIns="0" bIns="0" rtlCol="0" anchor="ctr"/>
          <a:lstStyle/>
          <a:p>
            <a:pPr indent="0" marL="0">
              <a:buNone/>
            </a:pPr>
            <a:r>
              <a:rPr lang="en-US" sz="2000" b="1" dirty="0">
                <a:solidFill>
                  <a:srgbClr val="0B6E4F"/>
                </a:solidFill>
                <a:latin typeface="Aptos Display" pitchFamily="34" charset="0"/>
                <a:ea typeface="Aptos Display" pitchFamily="34" charset="-122"/>
                <a:cs typeface="Aptos Display" pitchFamily="34" charset="-120"/>
              </a:rPr>
              <a:t>4.53M</a:t>
            </a:r>
            <a:endParaRPr lang="en-US" sz="2000" dirty="0"/>
          </a:p>
        </p:txBody>
      </p:sp>
      <p:sp>
        <p:nvSpPr>
          <p:cNvPr id="12" name="Text 9"/>
          <p:cNvSpPr/>
          <p:nvPr/>
        </p:nvSpPr>
        <p:spPr>
          <a:xfrm>
            <a:off x="2935224" y="1709928"/>
            <a:ext cx="167335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vehicle rows</a:t>
            </a:r>
            <a:endParaRPr lang="en-US" sz="850" dirty="0"/>
          </a:p>
        </p:txBody>
      </p:sp>
      <p:sp>
        <p:nvSpPr>
          <p:cNvPr id="13" name="Shape 10"/>
          <p:cNvSpPr/>
          <p:nvPr/>
        </p:nvSpPr>
        <p:spPr>
          <a:xfrm>
            <a:off x="4983480" y="1143000"/>
            <a:ext cx="1965960" cy="960120"/>
          </a:xfrm>
          <a:prstGeom prst="roundRect">
            <a:avLst>
              <a:gd name="adj" fmla="val 7619"/>
            </a:avLst>
          </a:prstGeom>
          <a:solidFill>
            <a:srgbClr val="0B263D"/>
          </a:solidFill>
          <a:ln w="15240">
            <a:solidFill>
              <a:srgbClr val="EE352E">
                <a:alpha val="60000"/>
              </a:srgbClr>
            </a:solidFill>
            <a:prstDash val="solid"/>
          </a:ln>
        </p:spPr>
        <p:txBody>
          <a:bodyPr/>
          <a:p/>
        </p:txBody>
      </p:sp>
      <p:sp>
        <p:nvSpPr>
          <p:cNvPr id="14" name="Text 11"/>
          <p:cNvSpPr/>
          <p:nvPr/>
        </p:nvSpPr>
        <p:spPr>
          <a:xfrm>
            <a:off x="5129784" y="1307592"/>
            <a:ext cx="1673352" cy="320040"/>
          </a:xfrm>
          <a:prstGeom prst="rect">
            <a:avLst/>
          </a:prstGeom>
          <a:noFill/>
          <a:ln/>
        </p:spPr>
        <p:txBody>
          <a:bodyPr wrap="square" lIns="0" tIns="0" rIns="0" bIns="0" rtlCol="0" anchor="ctr"/>
          <a:lstStyle/>
          <a:p>
            <a:pPr indent="0" marL="0">
              <a:buNone/>
            </a:pPr>
            <a:r>
              <a:rPr lang="en-US" sz="2000" b="1" dirty="0">
                <a:solidFill>
                  <a:srgbClr val="EE352E"/>
                </a:solidFill>
                <a:latin typeface="Aptos Display" pitchFamily="34" charset="0"/>
                <a:ea typeface="Aptos Display" pitchFamily="34" charset="-122"/>
                <a:cs typeface="Aptos Display" pitchFamily="34" charset="-120"/>
              </a:rPr>
              <a:t>5.95M</a:t>
            </a:r>
            <a:endParaRPr lang="en-US" sz="2000" dirty="0"/>
          </a:p>
        </p:txBody>
      </p:sp>
      <p:sp>
        <p:nvSpPr>
          <p:cNvPr id="15" name="Text 12"/>
          <p:cNvSpPr/>
          <p:nvPr/>
        </p:nvSpPr>
        <p:spPr>
          <a:xfrm>
            <a:off x="5129784" y="1709928"/>
            <a:ext cx="167335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person rows</a:t>
            </a:r>
            <a:endParaRPr lang="en-US" sz="850" dirty="0"/>
          </a:p>
        </p:txBody>
      </p:sp>
      <p:sp>
        <p:nvSpPr>
          <p:cNvPr id="16" name="Shape 13"/>
          <p:cNvSpPr/>
          <p:nvPr/>
        </p:nvSpPr>
        <p:spPr>
          <a:xfrm>
            <a:off x="7178040" y="1143000"/>
            <a:ext cx="2331720" cy="960120"/>
          </a:xfrm>
          <a:prstGeom prst="roundRect">
            <a:avLst>
              <a:gd name="adj" fmla="val 7619"/>
            </a:avLst>
          </a:prstGeom>
          <a:solidFill>
            <a:srgbClr val="0B263D"/>
          </a:solidFill>
          <a:ln w="15240">
            <a:solidFill>
              <a:srgbClr val="F7F9FB">
                <a:alpha val="60000"/>
              </a:srgbClr>
            </a:solidFill>
            <a:prstDash val="solid"/>
          </a:ln>
        </p:spPr>
        <p:txBody>
          <a:bodyPr/>
          <a:p/>
        </p:txBody>
      </p:sp>
      <p:sp>
        <p:nvSpPr>
          <p:cNvPr id="17" name="Text 14"/>
          <p:cNvSpPr/>
          <p:nvPr/>
        </p:nvSpPr>
        <p:spPr>
          <a:xfrm>
            <a:off x="7324344" y="1307592"/>
            <a:ext cx="2039112" cy="320040"/>
          </a:xfrm>
          <a:prstGeom prst="rect">
            <a:avLst/>
          </a:prstGeom>
          <a:noFill/>
          <a:ln/>
        </p:spPr>
        <p:txBody>
          <a:bodyPr wrap="square" lIns="0" tIns="0" rIns="0" bIns="0" rtlCol="0" anchor="ctr"/>
          <a:lstStyle/>
          <a:p>
            <a:pPr indent="0" marL="0">
              <a:buNone/>
            </a:pPr>
            <a:r>
              <a:rPr lang="en-US" sz="2000" b="1" dirty="0">
                <a:solidFill>
                  <a:srgbClr val="F7F9FB"/>
                </a:solidFill>
                <a:latin typeface="Aptos Display" pitchFamily="34" charset="0"/>
                <a:ea typeface="Aptos Display" pitchFamily="34" charset="-122"/>
                <a:cs typeface="Aptos Display" pitchFamily="34" charset="-120"/>
              </a:rPr>
              <a:t>513K</a:t>
            </a:r>
            <a:endParaRPr lang="en-US" sz="2000" dirty="0"/>
          </a:p>
        </p:txBody>
      </p:sp>
      <p:sp>
        <p:nvSpPr>
          <p:cNvPr id="18" name="Text 15"/>
          <p:cNvSpPr/>
          <p:nvPr/>
        </p:nvSpPr>
        <p:spPr>
          <a:xfrm>
            <a:off x="7324344" y="1709928"/>
            <a:ext cx="203911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collision-level rows after cleaning</a:t>
            </a:r>
            <a:endParaRPr lang="en-US" sz="850" dirty="0"/>
          </a:p>
        </p:txBody>
      </p:sp>
      <p:sp>
        <p:nvSpPr>
          <p:cNvPr id="19" name="Shape 16"/>
          <p:cNvSpPr/>
          <p:nvPr/>
        </p:nvSpPr>
        <p:spPr>
          <a:xfrm>
            <a:off x="9784080" y="1143000"/>
            <a:ext cx="182880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20" name="Text 17"/>
          <p:cNvSpPr/>
          <p:nvPr/>
        </p:nvSpPr>
        <p:spPr>
          <a:xfrm>
            <a:off x="9930384" y="1307592"/>
            <a:ext cx="153619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40.2%</a:t>
            </a:r>
            <a:endParaRPr lang="en-US" sz="2000" dirty="0"/>
          </a:p>
        </p:txBody>
      </p:sp>
      <p:sp>
        <p:nvSpPr>
          <p:cNvPr id="21" name="Text 18"/>
          <p:cNvSpPr/>
          <p:nvPr/>
        </p:nvSpPr>
        <p:spPr>
          <a:xfrm>
            <a:off x="9930384" y="1709928"/>
            <a:ext cx="153619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positive target rate</a:t>
            </a:r>
            <a:endParaRPr lang="en-US" sz="850" dirty="0"/>
          </a:p>
        </p:txBody>
      </p:sp>
      <p:sp>
        <p:nvSpPr>
          <p:cNvPr id="22" name="Text 19"/>
          <p:cNvSpPr/>
          <p:nvPr/>
        </p:nvSpPr>
        <p:spPr>
          <a:xfrm>
            <a:off x="777240" y="3246120"/>
            <a:ext cx="2286000" cy="256032"/>
          </a:xfrm>
          <a:prstGeom prst="rect">
            <a:avLst/>
          </a:prstGeom>
          <a:noFill/>
          <a:ln/>
        </p:spPr>
        <p:txBody>
          <a:bodyPr wrap="square" lIns="0" tIns="0" rIns="0" bIns="0" rtlCol="0" anchor="ctr"/>
          <a:lstStyle/>
          <a:p>
            <a:pPr indent="0" marL="0">
              <a:buNone/>
            </a:pPr>
            <a:r>
              <a:rPr lang="en-US" sz="1200" b="1" dirty="0">
                <a:solidFill>
                  <a:srgbClr val="FFC928"/>
                </a:solidFill>
              </a:rPr>
              <a:t>Relational join key</a:t>
            </a:r>
            <a:endParaRPr lang="en-US" sz="1200" dirty="0"/>
          </a:p>
        </p:txBody>
      </p:sp>
      <p:sp>
        <p:nvSpPr>
          <p:cNvPr id="23" name="Text 20"/>
          <p:cNvSpPr/>
          <p:nvPr/>
        </p:nvSpPr>
        <p:spPr>
          <a:xfrm>
            <a:off x="777240" y="3584448"/>
            <a:ext cx="3200400" cy="41148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COLLISION_ID</a:t>
            </a:r>
            <a:endParaRPr lang="en-US" sz="2400" dirty="0"/>
          </a:p>
        </p:txBody>
      </p:sp>
      <p:sp>
        <p:nvSpPr>
          <p:cNvPr id="24" name="Text 21"/>
          <p:cNvSpPr/>
          <p:nvPr/>
        </p:nvSpPr>
        <p:spPr>
          <a:xfrm>
            <a:off x="4663440" y="3246120"/>
            <a:ext cx="2743200" cy="256032"/>
          </a:xfrm>
          <a:prstGeom prst="rect">
            <a:avLst/>
          </a:prstGeom>
          <a:noFill/>
          <a:ln/>
        </p:spPr>
        <p:txBody>
          <a:bodyPr wrap="square" lIns="0" tIns="0" rIns="0" bIns="0" rtlCol="0" anchor="ctr"/>
          <a:lstStyle/>
          <a:p>
            <a:pPr indent="0" marL="0">
              <a:buNone/>
            </a:pPr>
            <a:r>
              <a:rPr lang="en-US" sz="1200" b="1" dirty="0">
                <a:solidFill>
                  <a:srgbClr val="FFC928"/>
                </a:solidFill>
              </a:rPr>
              <a:t>Average linked records per crash</a:t>
            </a:r>
            <a:endParaRPr lang="en-US" sz="1200" dirty="0"/>
          </a:p>
        </p:txBody>
      </p:sp>
      <p:sp>
        <p:nvSpPr>
          <p:cNvPr id="25" name="Text 22"/>
          <p:cNvSpPr/>
          <p:nvPr/>
        </p:nvSpPr>
        <p:spPr>
          <a:xfrm>
            <a:off x="4663440" y="3584448"/>
            <a:ext cx="4389120" cy="411480"/>
          </a:xfrm>
          <a:prstGeom prst="rect">
            <a:avLst/>
          </a:prstGeom>
          <a:noFill/>
          <a:ln/>
        </p:spPr>
        <p:txBody>
          <a:bodyPr wrap="square" lIns="0" tIns="0" rIns="0" bIns="0" rtlCol="0" anchor="ctr"/>
          <a:lstStyle/>
          <a:p>
            <a:pPr indent="0" marL="0">
              <a:buNone/>
            </a:pPr>
            <a:r>
              <a:rPr lang="en-US" sz="2200" b="1" dirty="0">
                <a:solidFill>
                  <a:srgbClr val="F7F9FB"/>
                </a:solidFill>
                <a:latin typeface="Aptos Display" pitchFamily="34" charset="0"/>
                <a:ea typeface="Aptos Display" pitchFamily="34" charset="-122"/>
                <a:cs typeface="Aptos Display" pitchFamily="34" charset="-120"/>
              </a:rPr>
              <a:t>2.02 vehicles  •  3.47 persons</a:t>
            </a:r>
            <a:endParaRPr lang="en-US" sz="2200" dirty="0"/>
          </a:p>
        </p:txBody>
      </p:sp>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54880" y="4343400"/>
            <a:ext cx="914400" cy="594360"/>
          </a:xfrm>
          <a:prstGeom prst="rect">
            <a:avLst/>
          </a:prstGeom>
        </p:spPr>
      </p:pic>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89320" y="4160520"/>
            <a:ext cx="502920" cy="777240"/>
          </a:xfrm>
          <a:prstGeom prst="rect">
            <a:avLst/>
          </a:prstGeom>
        </p:spPr>
      </p:pic>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49440" y="4343400"/>
            <a:ext cx="777240" cy="594360"/>
          </a:xfrm>
          <a:prstGeom prst="rect">
            <a:avLst/>
          </a:prstGeom>
        </p:spPr>
      </p:pic>
      <p:sp>
        <p:nvSpPr>
          <p:cNvPr id="29" name="Text 23"/>
          <p:cNvSpPr/>
          <p:nvPr/>
        </p:nvSpPr>
        <p:spPr>
          <a:xfrm>
            <a:off x="777240" y="5303520"/>
            <a:ext cx="6949440" cy="201168"/>
          </a:xfrm>
          <a:prstGeom prst="rect">
            <a:avLst/>
          </a:prstGeom>
          <a:noFill/>
          <a:ln/>
        </p:spPr>
        <p:txBody>
          <a:bodyPr wrap="square" lIns="0" tIns="0" rIns="0" bIns="0" rtlCol="0" anchor="ctr"/>
          <a:lstStyle/>
          <a:p>
            <a:pPr indent="0" marL="0">
              <a:buNone/>
            </a:pPr>
            <a:r>
              <a:rPr lang="en-US" sz="1020" dirty="0">
                <a:solidFill>
                  <a:srgbClr val="AAB7C4"/>
                </a:solidFill>
              </a:rPr>
              <a:t>Large public CSVs stay out of GitHub; the repo contains reproducible code and instructions.</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EDA: crashes are not random in time or place</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4</a:t>
            </a:r>
            <a:endParaRPr lang="en-US" sz="800" dirty="0"/>
          </a:p>
        </p:txBody>
      </p:sp>
      <p:pic>
        <p:nvPicPr>
          <p:cNvPr id="6" name="Image 0" descr="/mnt/data/latest_outputs/figures/fig_borough_hour_heatmap.png">    </p:cNvPr>
          <p:cNvPicPr>
            <a:picLocks noChangeAspect="1"/>
          </p:cNvPicPr>
          <p:nvPr/>
        </p:nvPicPr>
        <p:blipFill>
          <a:blip r:embed="rId1"/>
          <a:stretch>
            <a:fillRect/>
          </a:stretch>
        </p:blipFill>
        <p:spPr>
          <a:xfrm>
            <a:off x="502920" y="1625491"/>
            <a:ext cx="5852160" cy="3195537"/>
          </a:xfrm>
          <a:prstGeom prst="rect">
            <a:avLst/>
          </a:prstGeom>
        </p:spPr>
      </p:pic>
      <p:pic>
        <p:nvPicPr>
          <p:cNvPr id="7" name="Image 1" descr="/mnt/data/latest_outputs/figures/fig_injury_rate_by_involvement.png">    </p:cNvPr>
          <p:cNvPicPr>
            <a:picLocks noChangeAspect="1"/>
          </p:cNvPicPr>
          <p:nvPr/>
        </p:nvPicPr>
        <p:blipFill>
          <a:blip r:embed="rId2"/>
          <a:stretch>
            <a:fillRect/>
          </a:stretch>
        </p:blipFill>
        <p:spPr>
          <a:xfrm>
            <a:off x="6446520" y="1572330"/>
            <a:ext cx="4983480" cy="2798941"/>
          </a:xfrm>
          <a:prstGeom prst="rect">
            <a:avLst/>
          </a:prstGeom>
        </p:spPr>
      </p:pic>
      <p:sp>
        <p:nvSpPr>
          <p:cNvPr id="8" name="Text 4"/>
          <p:cNvSpPr/>
          <p:nvPr/>
        </p:nvSpPr>
        <p:spPr>
          <a:xfrm>
            <a:off x="6446520" y="5074920"/>
            <a:ext cx="2011680" cy="256032"/>
          </a:xfrm>
          <a:prstGeom prst="rect">
            <a:avLst/>
          </a:prstGeom>
          <a:noFill/>
          <a:ln/>
        </p:spPr>
        <p:txBody>
          <a:bodyPr wrap="square" lIns="0" tIns="0" rIns="0" bIns="0" rtlCol="0" anchor="ctr"/>
          <a:lstStyle/>
          <a:p>
            <a:pPr indent="0" marL="0">
              <a:buNone/>
            </a:pPr>
            <a:r>
              <a:rPr lang="en-US" sz="1300" b="1" dirty="0">
                <a:solidFill>
                  <a:srgbClr val="FFC928"/>
                </a:solidFill>
              </a:rPr>
              <a:t>Two visual clues</a:t>
            </a:r>
            <a:endParaRPr lang="en-US" sz="1300" dirty="0"/>
          </a:p>
        </p:txBody>
      </p:sp>
      <p:sp>
        <p:nvSpPr>
          <p:cNvPr id="9" name="Text 5"/>
          <p:cNvSpPr/>
          <p:nvPr/>
        </p:nvSpPr>
        <p:spPr>
          <a:xfrm>
            <a:off x="6446520" y="5413248"/>
            <a:ext cx="4480560" cy="502920"/>
          </a:xfrm>
          <a:prstGeom prst="rect">
            <a:avLst/>
          </a:prstGeom>
          <a:noFill/>
          <a:ln/>
        </p:spPr>
        <p:txBody>
          <a:bodyPr wrap="square" lIns="0" tIns="0" rIns="0" bIns="0" rtlCol="0" anchor="ctr">
            <a:normAutofit/>
          </a:bodyPr>
          <a:lstStyle/>
          <a:p>
            <a:pPr indent="0" marL="0">
              <a:buNone/>
            </a:pPr>
            <a:r>
              <a:rPr lang="en-US" sz="1150" dirty="0">
                <a:solidFill>
                  <a:srgbClr val="D7DEE8"/>
                </a:solidFill>
              </a:rPr>
              <a:t>Timing clusters by borough</a:t>
            </a:r>
            <a:endParaRPr lang="en-US" sz="1150" dirty="0"/>
          </a:p>
          <a:p>
            <a:pPr indent="0" marL="0">
              <a:buNone/>
            </a:pPr>
            <a:r>
              <a:rPr lang="en-US" sz="1150" dirty="0">
                <a:solidFill>
                  <a:srgbClr val="D7DEE8"/>
                </a:solidFill>
              </a:rPr>
              <a:t>Involvement count carries severity signal</a:t>
            </a:r>
            <a:endParaRPr lang="en-US" sz="1150" dirty="0"/>
          </a:p>
        </p:txBody>
      </p:sp>
      <p:pic>
        <p:nvPicPr>
          <p:cNvPr id="10"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64240" y="5074920"/>
            <a:ext cx="502920" cy="777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Method: build signal without leaking the answer</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5</a:t>
            </a:r>
            <a:endParaRPr lang="en-US" sz="800" dirty="0"/>
          </a:p>
        </p:txBody>
      </p:sp>
      <p:sp>
        <p:nvSpPr>
          <p:cNvPr id="6" name="Shape 4"/>
          <p:cNvSpPr/>
          <p:nvPr/>
        </p:nvSpPr>
        <p:spPr>
          <a:xfrm>
            <a:off x="731520" y="1234440"/>
            <a:ext cx="3246120" cy="1417320"/>
          </a:xfrm>
          <a:prstGeom prst="roundRect">
            <a:avLst>
              <a:gd name="adj" fmla="val 5161"/>
            </a:avLst>
          </a:prstGeom>
          <a:solidFill>
            <a:srgbClr val="0B263D"/>
          </a:solidFill>
          <a:ln w="17780">
            <a:solidFill>
              <a:srgbClr val="0039A6"/>
            </a:solidFill>
            <a:prstDash val="solid"/>
          </a:ln>
        </p:spPr>
        <p:txBody>
          <a:bodyPr/>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508760"/>
            <a:ext cx="548640" cy="548640"/>
          </a:xfrm>
          <a:prstGeom prst="rect">
            <a:avLst/>
          </a:prstGeom>
        </p:spPr>
      </p:pic>
      <p:sp>
        <p:nvSpPr>
          <p:cNvPr id="8" name="Text 5"/>
          <p:cNvSpPr/>
          <p:nvPr/>
        </p:nvSpPr>
        <p:spPr>
          <a:xfrm>
            <a:off x="1554480" y="1417320"/>
            <a:ext cx="2194560" cy="228600"/>
          </a:xfrm>
          <a:prstGeom prst="rect">
            <a:avLst/>
          </a:prstGeom>
          <a:noFill/>
          <a:ln/>
        </p:spPr>
        <p:txBody>
          <a:bodyPr wrap="square" lIns="0" tIns="0" rIns="0" bIns="0" rtlCol="0" anchor="ctr"/>
          <a:lstStyle/>
          <a:p>
            <a:pPr indent="0" marL="0">
              <a:buNone/>
            </a:pPr>
            <a:r>
              <a:rPr lang="en-US" sz="1500" b="1" dirty="0">
                <a:solidFill>
                  <a:srgbClr val="F7F9FB"/>
                </a:solidFill>
              </a:rPr>
              <a:t>Crash context</a:t>
            </a:r>
            <a:endParaRPr lang="en-US" sz="1500" dirty="0"/>
          </a:p>
        </p:txBody>
      </p:sp>
      <p:sp>
        <p:nvSpPr>
          <p:cNvPr id="9" name="Text 6"/>
          <p:cNvSpPr/>
          <p:nvPr/>
        </p:nvSpPr>
        <p:spPr>
          <a:xfrm>
            <a:off x="1554480" y="1773936"/>
            <a:ext cx="2011680" cy="411480"/>
          </a:xfrm>
          <a:prstGeom prst="rect">
            <a:avLst/>
          </a:prstGeom>
          <a:noFill/>
          <a:ln/>
        </p:spPr>
        <p:txBody>
          <a:bodyPr wrap="square" lIns="0" tIns="0" rIns="0" bIns="0" rtlCol="0" anchor="ctr">
            <a:normAutofit/>
          </a:bodyPr>
          <a:lstStyle/>
          <a:p>
            <a:pPr indent="0" marL="0">
              <a:buNone/>
            </a:pPr>
            <a:r>
              <a:rPr lang="en-US" sz="920" dirty="0">
                <a:solidFill>
                  <a:srgbClr val="D7DEE8"/>
                </a:solidFill>
              </a:rPr>
              <a:t>time, borough, ZIP group, coordinates, factors</a:t>
            </a:r>
            <a:endParaRPr lang="en-US" sz="920" dirty="0"/>
          </a:p>
        </p:txBody>
      </p:sp>
      <p:sp>
        <p:nvSpPr>
          <p:cNvPr id="10" name="Shape 7"/>
          <p:cNvSpPr/>
          <p:nvPr/>
        </p:nvSpPr>
        <p:spPr>
          <a:xfrm>
            <a:off x="4526280" y="1234440"/>
            <a:ext cx="3246120" cy="1417320"/>
          </a:xfrm>
          <a:prstGeom prst="roundRect">
            <a:avLst>
              <a:gd name="adj" fmla="val 5161"/>
            </a:avLst>
          </a:prstGeom>
          <a:solidFill>
            <a:srgbClr val="0B263D"/>
          </a:solidFill>
          <a:ln w="17780">
            <a:solidFill>
              <a:srgbClr val="0B6E4F"/>
            </a:solidFill>
            <a:prstDash val="solid"/>
          </a:ln>
        </p:spPr>
        <p:txBody>
          <a:bodyPr/>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3440" y="1508760"/>
            <a:ext cx="548640" cy="548640"/>
          </a:xfrm>
          <a:prstGeom prst="rect">
            <a:avLst/>
          </a:prstGeom>
        </p:spPr>
      </p:pic>
      <p:sp>
        <p:nvSpPr>
          <p:cNvPr id="12" name="Text 8"/>
          <p:cNvSpPr/>
          <p:nvPr/>
        </p:nvSpPr>
        <p:spPr>
          <a:xfrm>
            <a:off x="5349240" y="1417320"/>
            <a:ext cx="2194560" cy="228600"/>
          </a:xfrm>
          <a:prstGeom prst="rect">
            <a:avLst/>
          </a:prstGeom>
          <a:noFill/>
          <a:ln/>
        </p:spPr>
        <p:txBody>
          <a:bodyPr wrap="square" lIns="0" tIns="0" rIns="0" bIns="0" rtlCol="0" anchor="ctr"/>
          <a:lstStyle/>
          <a:p>
            <a:pPr indent="0" marL="0">
              <a:buNone/>
            </a:pPr>
            <a:r>
              <a:rPr lang="en-US" sz="1500" b="1" dirty="0">
                <a:solidFill>
                  <a:srgbClr val="F7F9FB"/>
                </a:solidFill>
              </a:rPr>
              <a:t>Vehicle aggregates</a:t>
            </a:r>
            <a:endParaRPr lang="en-US" sz="1500" dirty="0"/>
          </a:p>
        </p:txBody>
      </p:sp>
      <p:sp>
        <p:nvSpPr>
          <p:cNvPr id="13" name="Text 9"/>
          <p:cNvSpPr/>
          <p:nvPr/>
        </p:nvSpPr>
        <p:spPr>
          <a:xfrm>
            <a:off x="5349240" y="1773936"/>
            <a:ext cx="2011680" cy="411480"/>
          </a:xfrm>
          <a:prstGeom prst="rect">
            <a:avLst/>
          </a:prstGeom>
          <a:noFill/>
          <a:ln/>
        </p:spPr>
        <p:txBody>
          <a:bodyPr wrap="square" lIns="0" tIns="0" rIns="0" bIns="0" rtlCol="0" anchor="ctr">
            <a:normAutofit/>
          </a:bodyPr>
          <a:lstStyle/>
          <a:p>
            <a:pPr indent="0" marL="0">
              <a:buNone/>
            </a:pPr>
            <a:r>
              <a:rPr lang="en-US" sz="920" dirty="0">
                <a:solidFill>
                  <a:srgbClr val="D7DEE8"/>
                </a:solidFill>
              </a:rPr>
              <a:t>counts, vehicle mix, pre-crash movement</a:t>
            </a:r>
            <a:endParaRPr lang="en-US" sz="920" dirty="0"/>
          </a:p>
        </p:txBody>
      </p:sp>
      <p:sp>
        <p:nvSpPr>
          <p:cNvPr id="14" name="Shape 10"/>
          <p:cNvSpPr/>
          <p:nvPr/>
        </p:nvSpPr>
        <p:spPr>
          <a:xfrm>
            <a:off x="8321040" y="1234440"/>
            <a:ext cx="3246120" cy="1417320"/>
          </a:xfrm>
          <a:prstGeom prst="roundRect">
            <a:avLst>
              <a:gd name="adj" fmla="val 5161"/>
            </a:avLst>
          </a:prstGeom>
          <a:solidFill>
            <a:srgbClr val="0B263D"/>
          </a:solidFill>
          <a:ln w="17780">
            <a:solidFill>
              <a:srgbClr val="EE352E"/>
            </a:solidFill>
            <a:prstDash val="solid"/>
          </a:ln>
        </p:spPr>
        <p:txBody>
          <a:bodyPr/>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58200" y="1508760"/>
            <a:ext cx="548640" cy="548640"/>
          </a:xfrm>
          <a:prstGeom prst="rect">
            <a:avLst/>
          </a:prstGeom>
        </p:spPr>
      </p:pic>
      <p:sp>
        <p:nvSpPr>
          <p:cNvPr id="16" name="Text 11"/>
          <p:cNvSpPr/>
          <p:nvPr/>
        </p:nvSpPr>
        <p:spPr>
          <a:xfrm>
            <a:off x="9144000" y="1417320"/>
            <a:ext cx="2194560" cy="228600"/>
          </a:xfrm>
          <a:prstGeom prst="rect">
            <a:avLst/>
          </a:prstGeom>
          <a:noFill/>
          <a:ln/>
        </p:spPr>
        <p:txBody>
          <a:bodyPr wrap="square" lIns="0" tIns="0" rIns="0" bIns="0" rtlCol="0" anchor="ctr"/>
          <a:lstStyle/>
          <a:p>
            <a:pPr indent="0" marL="0">
              <a:buNone/>
            </a:pPr>
            <a:r>
              <a:rPr lang="en-US" sz="1500" b="1" dirty="0">
                <a:solidFill>
                  <a:srgbClr val="F7F9FB"/>
                </a:solidFill>
              </a:rPr>
              <a:t>Person aggregates</a:t>
            </a:r>
            <a:endParaRPr lang="en-US" sz="1500" dirty="0"/>
          </a:p>
        </p:txBody>
      </p:sp>
      <p:sp>
        <p:nvSpPr>
          <p:cNvPr id="17" name="Text 12"/>
          <p:cNvSpPr/>
          <p:nvPr/>
        </p:nvSpPr>
        <p:spPr>
          <a:xfrm>
            <a:off x="9144000" y="1773936"/>
            <a:ext cx="2011680" cy="411480"/>
          </a:xfrm>
          <a:prstGeom prst="rect">
            <a:avLst/>
          </a:prstGeom>
          <a:noFill/>
          <a:ln/>
        </p:spPr>
        <p:txBody>
          <a:bodyPr wrap="square" lIns="0" tIns="0" rIns="0" bIns="0" rtlCol="0" anchor="ctr">
            <a:normAutofit/>
          </a:bodyPr>
          <a:lstStyle/>
          <a:p>
            <a:pPr indent="0" marL="0">
              <a:buNone/>
            </a:pPr>
            <a:r>
              <a:rPr lang="en-US" sz="920" dirty="0">
                <a:solidFill>
                  <a:srgbClr val="D7DEE8"/>
                </a:solidFill>
              </a:rPr>
              <a:t>road-user roles, ages, pedestrian/cyclist flags</a:t>
            </a:r>
            <a:endParaRPr lang="en-US" sz="920" dirty="0"/>
          </a:p>
        </p:txBody>
      </p:sp>
      <p:sp>
        <p:nvSpPr>
          <p:cNvPr id="18" name="Shape 13"/>
          <p:cNvSpPr/>
          <p:nvPr/>
        </p:nvSpPr>
        <p:spPr>
          <a:xfrm>
            <a:off x="2331720" y="2880360"/>
            <a:ext cx="2103120" cy="502920"/>
          </a:xfrm>
          <a:prstGeom prst="line">
            <a:avLst/>
          </a:prstGeom>
          <a:noFill/>
          <a:ln w="17780">
            <a:solidFill>
              <a:srgbClr val="FFC928"/>
            </a:solidFill>
            <a:prstDash val="solid"/>
            <a:tailEnd type="triangle"/>
          </a:ln>
        </p:spPr>
        <p:txBody>
          <a:bodyPr/>
          <a:p/>
        </p:txBody>
      </p:sp>
      <p:sp>
        <p:nvSpPr>
          <p:cNvPr id="19" name="Shape 14"/>
          <p:cNvSpPr/>
          <p:nvPr/>
        </p:nvSpPr>
        <p:spPr>
          <a:xfrm>
            <a:off x="6108192" y="2788920"/>
            <a:ext cx="0" cy="640080"/>
          </a:xfrm>
          <a:prstGeom prst="line">
            <a:avLst/>
          </a:prstGeom>
          <a:noFill/>
          <a:ln w="17780">
            <a:solidFill>
              <a:srgbClr val="FFC928"/>
            </a:solidFill>
            <a:prstDash val="solid"/>
            <a:tailEnd type="triangle"/>
          </a:ln>
        </p:spPr>
        <p:txBody>
          <a:bodyPr/>
          <a:p/>
        </p:txBody>
      </p:sp>
      <p:sp>
        <p:nvSpPr>
          <p:cNvPr id="20" name="Shape 15"/>
          <p:cNvSpPr/>
          <p:nvPr/>
        </p:nvSpPr>
        <p:spPr>
          <a:xfrm>
            <a:off x="9875520" y="2880360"/>
            <a:ext cx="-2103120" cy="502920"/>
          </a:xfrm>
          <a:prstGeom prst="line">
            <a:avLst/>
          </a:prstGeom>
          <a:noFill/>
          <a:ln w="17780">
            <a:solidFill>
              <a:srgbClr val="FFC928"/>
            </a:solidFill>
            <a:prstDash val="solid"/>
            <a:tailEnd type="triangle"/>
          </a:ln>
        </p:spPr>
        <p:txBody>
          <a:bodyPr/>
          <a:p/>
        </p:txBody>
      </p:sp>
      <p:sp>
        <p:nvSpPr>
          <p:cNvPr id="21" name="Shape 16"/>
          <p:cNvSpPr/>
          <p:nvPr/>
        </p:nvSpPr>
        <p:spPr>
          <a:xfrm>
            <a:off x="4251960" y="3703320"/>
            <a:ext cx="3703320" cy="914400"/>
          </a:xfrm>
          <a:prstGeom prst="roundRect">
            <a:avLst>
              <a:gd name="adj" fmla="val 8000"/>
            </a:avLst>
          </a:prstGeom>
          <a:solidFill>
            <a:srgbClr val="21364A"/>
          </a:solidFill>
          <a:ln w="17780">
            <a:solidFill>
              <a:srgbClr val="FFC928"/>
            </a:solidFill>
            <a:prstDash val="solid"/>
          </a:ln>
        </p:spPr>
        <p:txBody>
          <a:bodyPr/>
          <a:p/>
        </p:txBody>
      </p:sp>
      <p:sp>
        <p:nvSpPr>
          <p:cNvPr id="22" name="Text 17"/>
          <p:cNvSpPr/>
          <p:nvPr/>
        </p:nvSpPr>
        <p:spPr>
          <a:xfrm>
            <a:off x="4480560" y="3986784"/>
            <a:ext cx="3291840" cy="219456"/>
          </a:xfrm>
          <a:prstGeom prst="rect">
            <a:avLst/>
          </a:prstGeom>
          <a:noFill/>
          <a:ln/>
        </p:spPr>
        <p:txBody>
          <a:bodyPr wrap="square" lIns="0" tIns="0" rIns="0" bIns="0" rtlCol="0" anchor="ctr"/>
          <a:lstStyle/>
          <a:p>
            <a:pPr algn="ctr" indent="0" marL="0">
              <a:buNone/>
            </a:pPr>
            <a:r>
              <a:rPr lang="en-US" sz="1500" b="1" dirty="0">
                <a:solidFill>
                  <a:srgbClr val="F7F9FB"/>
                </a:solidFill>
              </a:rPr>
              <a:t>Leakage-controlled feature matrix</a:t>
            </a:r>
            <a:endParaRPr lang="en-US" sz="1500" dirty="0"/>
          </a:p>
        </p:txBody>
      </p:sp>
      <p:sp>
        <p:nvSpPr>
          <p:cNvPr id="23" name="Text 18"/>
          <p:cNvSpPr/>
          <p:nvPr/>
        </p:nvSpPr>
        <p:spPr>
          <a:xfrm>
            <a:off x="1828800" y="5120640"/>
            <a:ext cx="8595360" cy="237744"/>
          </a:xfrm>
          <a:prstGeom prst="rect">
            <a:avLst/>
          </a:prstGeom>
          <a:noFill/>
          <a:ln/>
        </p:spPr>
        <p:txBody>
          <a:bodyPr wrap="square" lIns="0" tIns="0" rIns="0" bIns="0" rtlCol="0" anchor="ctr"/>
          <a:lstStyle/>
          <a:p>
            <a:pPr algn="ctr" indent="0" marL="0">
              <a:buNone/>
            </a:pPr>
            <a:r>
              <a:rPr lang="en-US" sz="1200" b="1" dirty="0">
                <a:solidFill>
                  <a:srgbClr val="FFC928"/>
                </a:solidFill>
              </a:rPr>
              <a:t>Removed injury counts, bodily injury, complaints, ejection, emotional status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Model comparison: 2025 holdout set</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6</a:t>
            </a:r>
            <a:endParaRPr lang="en-US" sz="800" dirty="0"/>
          </a:p>
        </p:txBody>
      </p:sp>
      <p:pic>
        <p:nvPicPr>
          <p:cNvPr id="6" name="Image 0" descr="/mnt/data/latest_outputs/figures/fig_pr_curves.png">    </p:cNvPr>
          <p:cNvPicPr>
            <a:picLocks noChangeAspect="1"/>
          </p:cNvPicPr>
          <p:nvPr/>
        </p:nvPicPr>
        <p:blipFill>
          <a:blip r:embed="rId1"/>
          <a:stretch>
            <a:fillRect/>
          </a:stretch>
        </p:blipFill>
        <p:spPr>
          <a:xfrm>
            <a:off x="626891" y="914400"/>
            <a:ext cx="5147019" cy="4114800"/>
          </a:xfrm>
          <a:prstGeom prst="rect">
            <a:avLst/>
          </a:prstGeom>
        </p:spPr>
      </p:pic>
      <p:pic>
        <p:nvPicPr>
          <p:cNvPr id="7" name="Image 1" descr="/mnt/data/latest_outputs/figures/fig_roc_curves.png">    </p:cNvPr>
          <p:cNvPicPr>
            <a:picLocks noChangeAspect="1"/>
          </p:cNvPicPr>
          <p:nvPr/>
        </p:nvPicPr>
        <p:blipFill>
          <a:blip r:embed="rId2"/>
          <a:stretch>
            <a:fillRect/>
          </a:stretch>
        </p:blipFill>
        <p:spPr>
          <a:xfrm>
            <a:off x="6113291" y="914400"/>
            <a:ext cx="5147019" cy="4114800"/>
          </a:xfrm>
          <a:prstGeom prst="rect">
            <a:avLst/>
          </a:prstGeom>
        </p:spPr>
      </p:pic>
      <p:sp>
        <p:nvSpPr>
          <p:cNvPr id="8" name="Shape 4"/>
          <p:cNvSpPr/>
          <p:nvPr/>
        </p:nvSpPr>
        <p:spPr>
          <a:xfrm>
            <a:off x="731520" y="5257800"/>
            <a:ext cx="201168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9" name="Text 5"/>
          <p:cNvSpPr/>
          <p:nvPr/>
        </p:nvSpPr>
        <p:spPr>
          <a:xfrm>
            <a:off x="877824" y="5422392"/>
            <a:ext cx="171907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XGBoost</a:t>
            </a:r>
            <a:endParaRPr lang="en-US" sz="2000" dirty="0"/>
          </a:p>
        </p:txBody>
      </p:sp>
      <p:sp>
        <p:nvSpPr>
          <p:cNvPr id="10" name="Text 6"/>
          <p:cNvSpPr/>
          <p:nvPr/>
        </p:nvSpPr>
        <p:spPr>
          <a:xfrm>
            <a:off x="877824" y="5824728"/>
            <a:ext cx="171907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best by PR-AUC</a:t>
            </a:r>
            <a:endParaRPr lang="en-US" sz="850" dirty="0"/>
          </a:p>
        </p:txBody>
      </p:sp>
      <p:sp>
        <p:nvSpPr>
          <p:cNvPr id="11" name="Shape 7"/>
          <p:cNvSpPr/>
          <p:nvPr/>
        </p:nvSpPr>
        <p:spPr>
          <a:xfrm>
            <a:off x="2971800" y="5257800"/>
            <a:ext cx="1463040" cy="960120"/>
          </a:xfrm>
          <a:prstGeom prst="roundRect">
            <a:avLst>
              <a:gd name="adj" fmla="val 7619"/>
            </a:avLst>
          </a:prstGeom>
          <a:solidFill>
            <a:srgbClr val="0B263D"/>
          </a:solidFill>
          <a:ln w="15240">
            <a:solidFill>
              <a:srgbClr val="0B6E4F">
                <a:alpha val="60000"/>
              </a:srgbClr>
            </a:solidFill>
            <a:prstDash val="solid"/>
          </a:ln>
        </p:spPr>
        <p:txBody>
          <a:bodyPr/>
          <a:p/>
        </p:txBody>
      </p:sp>
      <p:sp>
        <p:nvSpPr>
          <p:cNvPr id="12" name="Text 8"/>
          <p:cNvSpPr/>
          <p:nvPr/>
        </p:nvSpPr>
        <p:spPr>
          <a:xfrm>
            <a:off x="3118104" y="5422392"/>
            <a:ext cx="1170432" cy="320040"/>
          </a:xfrm>
          <a:prstGeom prst="rect">
            <a:avLst/>
          </a:prstGeom>
          <a:noFill/>
          <a:ln/>
        </p:spPr>
        <p:txBody>
          <a:bodyPr wrap="square" lIns="0" tIns="0" rIns="0" bIns="0" rtlCol="0" anchor="ctr"/>
          <a:lstStyle/>
          <a:p>
            <a:pPr indent="0" marL="0">
              <a:buNone/>
            </a:pPr>
            <a:r>
              <a:rPr lang="en-US" sz="2000" b="1" dirty="0">
                <a:solidFill>
                  <a:srgbClr val="0B6E4F"/>
                </a:solidFill>
                <a:latin typeface="Aptos Display" pitchFamily="34" charset="0"/>
                <a:ea typeface="Aptos Display" pitchFamily="34" charset="-122"/>
                <a:cs typeface="Aptos Display" pitchFamily="34" charset="-120"/>
              </a:rPr>
              <a:t>0.860</a:t>
            </a:r>
            <a:endParaRPr lang="en-US" sz="2000" dirty="0"/>
          </a:p>
        </p:txBody>
      </p:sp>
      <p:sp>
        <p:nvSpPr>
          <p:cNvPr id="13" name="Text 9"/>
          <p:cNvSpPr/>
          <p:nvPr/>
        </p:nvSpPr>
        <p:spPr>
          <a:xfrm>
            <a:off x="3118104" y="5824728"/>
            <a:ext cx="117043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PR-AUC</a:t>
            </a:r>
            <a:endParaRPr lang="en-US" sz="850" dirty="0"/>
          </a:p>
        </p:txBody>
      </p:sp>
      <p:sp>
        <p:nvSpPr>
          <p:cNvPr id="14" name="Shape 10"/>
          <p:cNvSpPr/>
          <p:nvPr/>
        </p:nvSpPr>
        <p:spPr>
          <a:xfrm>
            <a:off x="4663440" y="5257800"/>
            <a:ext cx="1463040" cy="960120"/>
          </a:xfrm>
          <a:prstGeom prst="roundRect">
            <a:avLst>
              <a:gd name="adj" fmla="val 7619"/>
            </a:avLst>
          </a:prstGeom>
          <a:solidFill>
            <a:srgbClr val="0B263D"/>
          </a:solidFill>
          <a:ln w="15240">
            <a:solidFill>
              <a:srgbClr val="0B6E4F">
                <a:alpha val="60000"/>
              </a:srgbClr>
            </a:solidFill>
            <a:prstDash val="solid"/>
          </a:ln>
        </p:spPr>
        <p:txBody>
          <a:bodyPr/>
          <a:p/>
        </p:txBody>
      </p:sp>
      <p:sp>
        <p:nvSpPr>
          <p:cNvPr id="15" name="Text 11"/>
          <p:cNvSpPr/>
          <p:nvPr/>
        </p:nvSpPr>
        <p:spPr>
          <a:xfrm>
            <a:off x="4809744" y="5422392"/>
            <a:ext cx="1170432" cy="320040"/>
          </a:xfrm>
          <a:prstGeom prst="rect">
            <a:avLst/>
          </a:prstGeom>
          <a:noFill/>
          <a:ln/>
        </p:spPr>
        <p:txBody>
          <a:bodyPr wrap="square" lIns="0" tIns="0" rIns="0" bIns="0" rtlCol="0" anchor="ctr"/>
          <a:lstStyle/>
          <a:p>
            <a:pPr indent="0" marL="0">
              <a:buNone/>
            </a:pPr>
            <a:r>
              <a:rPr lang="en-US" sz="2000" b="1" dirty="0">
                <a:solidFill>
                  <a:srgbClr val="0B6E4F"/>
                </a:solidFill>
                <a:latin typeface="Aptos Display" pitchFamily="34" charset="0"/>
                <a:ea typeface="Aptos Display" pitchFamily="34" charset="-122"/>
                <a:cs typeface="Aptos Display" pitchFamily="34" charset="-120"/>
              </a:rPr>
              <a:t>0.893</a:t>
            </a:r>
            <a:endParaRPr lang="en-US" sz="2000" dirty="0"/>
          </a:p>
        </p:txBody>
      </p:sp>
      <p:sp>
        <p:nvSpPr>
          <p:cNvPr id="16" name="Text 12"/>
          <p:cNvSpPr/>
          <p:nvPr/>
        </p:nvSpPr>
        <p:spPr>
          <a:xfrm>
            <a:off x="4809744" y="5824728"/>
            <a:ext cx="117043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ROC-AUC</a:t>
            </a:r>
            <a:endParaRPr lang="en-US" sz="850" dirty="0"/>
          </a:p>
        </p:txBody>
      </p:sp>
      <p:sp>
        <p:nvSpPr>
          <p:cNvPr id="17" name="Shape 13"/>
          <p:cNvSpPr/>
          <p:nvPr/>
        </p:nvSpPr>
        <p:spPr>
          <a:xfrm>
            <a:off x="6355080" y="5257800"/>
            <a:ext cx="123444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18" name="Text 14"/>
          <p:cNvSpPr/>
          <p:nvPr/>
        </p:nvSpPr>
        <p:spPr>
          <a:xfrm>
            <a:off x="6501384" y="5422392"/>
            <a:ext cx="94183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0.787</a:t>
            </a:r>
            <a:endParaRPr lang="en-US" sz="2000" dirty="0"/>
          </a:p>
        </p:txBody>
      </p:sp>
      <p:sp>
        <p:nvSpPr>
          <p:cNvPr id="19" name="Text 15"/>
          <p:cNvSpPr/>
          <p:nvPr/>
        </p:nvSpPr>
        <p:spPr>
          <a:xfrm>
            <a:off x="6501384" y="5824728"/>
            <a:ext cx="94183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F1</a:t>
            </a:r>
            <a:endParaRPr lang="en-US" sz="850" dirty="0"/>
          </a:p>
        </p:txBody>
      </p:sp>
      <p:sp>
        <p:nvSpPr>
          <p:cNvPr id="20" name="Shape 16"/>
          <p:cNvSpPr/>
          <p:nvPr/>
        </p:nvSpPr>
        <p:spPr>
          <a:xfrm>
            <a:off x="7818120" y="5257800"/>
            <a:ext cx="141732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21" name="Text 17"/>
          <p:cNvSpPr/>
          <p:nvPr/>
        </p:nvSpPr>
        <p:spPr>
          <a:xfrm>
            <a:off x="7964424" y="5422392"/>
            <a:ext cx="112471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0.839</a:t>
            </a:r>
            <a:endParaRPr lang="en-US" sz="2000" dirty="0"/>
          </a:p>
        </p:txBody>
      </p:sp>
      <p:sp>
        <p:nvSpPr>
          <p:cNvPr id="22" name="Text 18"/>
          <p:cNvSpPr/>
          <p:nvPr/>
        </p:nvSpPr>
        <p:spPr>
          <a:xfrm>
            <a:off x="7964424" y="5824728"/>
            <a:ext cx="112471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Recall</a:t>
            </a:r>
            <a:endParaRPr lang="en-US" sz="850" dirty="0"/>
          </a:p>
        </p:txBody>
      </p:sp>
      <p:sp>
        <p:nvSpPr>
          <p:cNvPr id="23" name="Text 19"/>
          <p:cNvSpPr/>
          <p:nvPr/>
        </p:nvSpPr>
        <p:spPr>
          <a:xfrm>
            <a:off x="9464040" y="5596128"/>
            <a:ext cx="1828800" cy="301752"/>
          </a:xfrm>
          <a:prstGeom prst="rect">
            <a:avLst/>
          </a:prstGeom>
          <a:noFill/>
          <a:ln/>
        </p:spPr>
        <p:txBody>
          <a:bodyPr wrap="square" lIns="0" tIns="0" rIns="0" bIns="0" rtlCol="0" anchor="ctr">
            <a:normAutofit/>
          </a:bodyPr>
          <a:lstStyle/>
          <a:p>
            <a:pPr indent="0" marL="0">
              <a:buNone/>
            </a:pPr>
            <a:r>
              <a:rPr lang="en-US" sz="950" dirty="0">
                <a:solidFill>
                  <a:srgbClr val="D7DEE8"/>
                </a:solidFill>
              </a:rPr>
              <a:t>Learned models greatly outperform the dummy baseline.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Ablation: each linked table adds value</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7</a:t>
            </a:r>
            <a:endParaRPr lang="en-US" sz="800" dirty="0"/>
          </a:p>
        </p:txBody>
      </p:sp>
      <p:sp>
        <p:nvSpPr>
          <p:cNvPr id="6" name="Text 4"/>
          <p:cNvSpPr/>
          <p:nvPr/>
        </p:nvSpPr>
        <p:spPr>
          <a:xfrm>
            <a:off x="640080" y="960120"/>
            <a:ext cx="3474720" cy="320040"/>
          </a:xfrm>
          <a:prstGeom prst="rect">
            <a:avLst/>
          </a:prstGeom>
          <a:noFill/>
          <a:ln/>
        </p:spPr>
        <p:txBody>
          <a:bodyPr wrap="square" lIns="0" tIns="0" rIns="0" bIns="0" rtlCol="0" anchor="ctr"/>
          <a:lstStyle/>
          <a:p>
            <a:pPr indent="0" marL="0">
              <a:buNone/>
            </a:pPr>
            <a:r>
              <a:rPr lang="en-US" sz="2200" b="1" dirty="0">
                <a:solidFill>
                  <a:srgbClr val="F7F9FB"/>
                </a:solidFill>
              </a:rPr>
              <a:t>PR-AUC by feature set</a:t>
            </a:r>
            <a:endParaRPr lang="en-US" sz="2200" dirty="0"/>
          </a:p>
        </p:txBody>
      </p:sp>
      <p:sp>
        <p:nvSpPr>
          <p:cNvPr id="7" name="Text 5"/>
          <p:cNvSpPr/>
          <p:nvPr/>
        </p:nvSpPr>
        <p:spPr>
          <a:xfrm>
            <a:off x="914400" y="1673352"/>
            <a:ext cx="1828800" cy="228600"/>
          </a:xfrm>
          <a:prstGeom prst="rect">
            <a:avLst/>
          </a:prstGeom>
          <a:noFill/>
          <a:ln/>
        </p:spPr>
        <p:txBody>
          <a:bodyPr wrap="square" lIns="0" tIns="0" rIns="0" bIns="0" rtlCol="0" anchor="ctr"/>
          <a:lstStyle/>
          <a:p>
            <a:pPr indent="0" marL="0">
              <a:buNone/>
            </a:pPr>
            <a:r>
              <a:rPr lang="en-US" sz="1200" dirty="0">
                <a:solidFill>
                  <a:srgbClr val="F7F9FB"/>
                </a:solidFill>
              </a:rPr>
              <a:t>Crash only</a:t>
            </a:r>
            <a:endParaRPr lang="en-US" sz="1200" dirty="0"/>
          </a:p>
        </p:txBody>
      </p:sp>
      <p:sp>
        <p:nvSpPr>
          <p:cNvPr id="8" name="Shape 6"/>
          <p:cNvSpPr/>
          <p:nvPr/>
        </p:nvSpPr>
        <p:spPr>
          <a:xfrm>
            <a:off x="2971800" y="1709928"/>
            <a:ext cx="5669280" cy="219456"/>
          </a:xfrm>
          <a:prstGeom prst="rect">
            <a:avLst/>
          </a:prstGeom>
          <a:solidFill>
            <a:srgbClr val="263A4C"/>
          </a:solidFill>
          <a:ln w="12700">
            <a:solidFill>
              <a:srgbClr val="263A4C"/>
            </a:solidFill>
            <a:prstDash val="solid"/>
          </a:ln>
        </p:spPr>
        <p:txBody>
          <a:bodyPr/>
          <a:p/>
        </p:txBody>
      </p:sp>
      <p:sp>
        <p:nvSpPr>
          <p:cNvPr id="9" name="Shape 7"/>
          <p:cNvSpPr/>
          <p:nvPr/>
        </p:nvSpPr>
        <p:spPr>
          <a:xfrm>
            <a:off x="2971800" y="1709928"/>
            <a:ext cx="3719048" cy="219456"/>
          </a:xfrm>
          <a:prstGeom prst="rect">
            <a:avLst/>
          </a:prstGeom>
          <a:solidFill>
            <a:srgbClr val="0039A6"/>
          </a:solidFill>
          <a:ln w="12700">
            <a:solidFill>
              <a:srgbClr val="0039A6"/>
            </a:solidFill>
            <a:prstDash val="solid"/>
          </a:ln>
        </p:spPr>
        <p:txBody>
          <a:bodyPr/>
          <a:p/>
        </p:txBody>
      </p:sp>
      <p:sp>
        <p:nvSpPr>
          <p:cNvPr id="10" name="Text 8"/>
          <p:cNvSpPr/>
          <p:nvPr/>
        </p:nvSpPr>
        <p:spPr>
          <a:xfrm>
            <a:off x="8823960" y="1645920"/>
            <a:ext cx="685800" cy="228600"/>
          </a:xfrm>
          <a:prstGeom prst="rect">
            <a:avLst/>
          </a:prstGeom>
          <a:noFill/>
          <a:ln/>
        </p:spPr>
        <p:txBody>
          <a:bodyPr wrap="square" lIns="0" tIns="0" rIns="0" bIns="0" rtlCol="0" anchor="ctr"/>
          <a:lstStyle/>
          <a:p>
            <a:pPr indent="0" marL="0">
              <a:buNone/>
            </a:pPr>
            <a:r>
              <a:rPr lang="en-US" sz="1200" b="1" dirty="0">
                <a:solidFill>
                  <a:srgbClr val="0039A6"/>
                </a:solidFill>
              </a:rPr>
              <a:t>0.656</a:t>
            </a:r>
            <a:endParaRPr lang="en-US" sz="1200" dirty="0"/>
          </a:p>
        </p:txBody>
      </p:sp>
      <p:sp>
        <p:nvSpPr>
          <p:cNvPr id="11" name="Text 9"/>
          <p:cNvSpPr/>
          <p:nvPr/>
        </p:nvSpPr>
        <p:spPr>
          <a:xfrm>
            <a:off x="914400" y="2496312"/>
            <a:ext cx="1828800" cy="228600"/>
          </a:xfrm>
          <a:prstGeom prst="rect">
            <a:avLst/>
          </a:prstGeom>
          <a:noFill/>
          <a:ln/>
        </p:spPr>
        <p:txBody>
          <a:bodyPr wrap="square" lIns="0" tIns="0" rIns="0" bIns="0" rtlCol="0" anchor="ctr"/>
          <a:lstStyle/>
          <a:p>
            <a:pPr indent="0" marL="0">
              <a:buNone/>
            </a:pPr>
            <a:r>
              <a:rPr lang="en-US" sz="1200" dirty="0">
                <a:solidFill>
                  <a:srgbClr val="F7F9FB"/>
                </a:solidFill>
              </a:rPr>
              <a:t>Crash + vehicle</a:t>
            </a:r>
            <a:endParaRPr lang="en-US" sz="1200" dirty="0"/>
          </a:p>
        </p:txBody>
      </p:sp>
      <p:sp>
        <p:nvSpPr>
          <p:cNvPr id="12" name="Shape 10"/>
          <p:cNvSpPr/>
          <p:nvPr/>
        </p:nvSpPr>
        <p:spPr>
          <a:xfrm>
            <a:off x="2971800" y="2532888"/>
            <a:ext cx="5669280" cy="219456"/>
          </a:xfrm>
          <a:prstGeom prst="rect">
            <a:avLst/>
          </a:prstGeom>
          <a:solidFill>
            <a:srgbClr val="263A4C"/>
          </a:solidFill>
          <a:ln w="12700">
            <a:solidFill>
              <a:srgbClr val="263A4C"/>
            </a:solidFill>
            <a:prstDash val="solid"/>
          </a:ln>
        </p:spPr>
        <p:txBody>
          <a:bodyPr/>
          <a:p/>
        </p:txBody>
      </p:sp>
      <p:sp>
        <p:nvSpPr>
          <p:cNvPr id="13" name="Shape 11"/>
          <p:cNvSpPr/>
          <p:nvPr/>
        </p:nvSpPr>
        <p:spPr>
          <a:xfrm>
            <a:off x="2971800" y="2532888"/>
            <a:ext cx="4501408" cy="219456"/>
          </a:xfrm>
          <a:prstGeom prst="rect">
            <a:avLst/>
          </a:prstGeom>
          <a:solidFill>
            <a:srgbClr val="0B6E4F"/>
          </a:solidFill>
          <a:ln w="12700">
            <a:solidFill>
              <a:srgbClr val="0B6E4F"/>
            </a:solidFill>
            <a:prstDash val="solid"/>
          </a:ln>
        </p:spPr>
        <p:txBody>
          <a:bodyPr/>
          <a:p/>
        </p:txBody>
      </p:sp>
      <p:sp>
        <p:nvSpPr>
          <p:cNvPr id="14" name="Text 12"/>
          <p:cNvSpPr/>
          <p:nvPr/>
        </p:nvSpPr>
        <p:spPr>
          <a:xfrm>
            <a:off x="8823960" y="2468880"/>
            <a:ext cx="685800" cy="228600"/>
          </a:xfrm>
          <a:prstGeom prst="rect">
            <a:avLst/>
          </a:prstGeom>
          <a:noFill/>
          <a:ln/>
        </p:spPr>
        <p:txBody>
          <a:bodyPr wrap="square" lIns="0" tIns="0" rIns="0" bIns="0" rtlCol="0" anchor="ctr"/>
          <a:lstStyle/>
          <a:p>
            <a:pPr indent="0" marL="0">
              <a:buNone/>
            </a:pPr>
            <a:r>
              <a:rPr lang="en-US" sz="1200" b="1" dirty="0">
                <a:solidFill>
                  <a:srgbClr val="0B6E4F"/>
                </a:solidFill>
              </a:rPr>
              <a:t>0.794</a:t>
            </a:r>
            <a:endParaRPr lang="en-US" sz="1200" dirty="0"/>
          </a:p>
        </p:txBody>
      </p:sp>
      <p:sp>
        <p:nvSpPr>
          <p:cNvPr id="15" name="Text 13"/>
          <p:cNvSpPr/>
          <p:nvPr/>
        </p:nvSpPr>
        <p:spPr>
          <a:xfrm>
            <a:off x="914400" y="3319272"/>
            <a:ext cx="1828800" cy="228600"/>
          </a:xfrm>
          <a:prstGeom prst="rect">
            <a:avLst/>
          </a:prstGeom>
          <a:noFill/>
          <a:ln/>
        </p:spPr>
        <p:txBody>
          <a:bodyPr wrap="square" lIns="0" tIns="0" rIns="0" bIns="0" rtlCol="0" anchor="ctr"/>
          <a:lstStyle/>
          <a:p>
            <a:pPr indent="0" marL="0">
              <a:buNone/>
            </a:pPr>
            <a:r>
              <a:rPr lang="en-US" sz="1200" dirty="0">
                <a:solidFill>
                  <a:srgbClr val="F7F9FB"/>
                </a:solidFill>
              </a:rPr>
              <a:t>Crash + person</a:t>
            </a:r>
            <a:endParaRPr lang="en-US" sz="1200" dirty="0"/>
          </a:p>
        </p:txBody>
      </p:sp>
      <p:sp>
        <p:nvSpPr>
          <p:cNvPr id="16" name="Shape 14"/>
          <p:cNvSpPr/>
          <p:nvPr/>
        </p:nvSpPr>
        <p:spPr>
          <a:xfrm>
            <a:off x="2971800" y="3355848"/>
            <a:ext cx="5669280" cy="219456"/>
          </a:xfrm>
          <a:prstGeom prst="rect">
            <a:avLst/>
          </a:prstGeom>
          <a:solidFill>
            <a:srgbClr val="263A4C"/>
          </a:solidFill>
          <a:ln w="12700">
            <a:solidFill>
              <a:srgbClr val="263A4C"/>
            </a:solidFill>
            <a:prstDash val="solid"/>
          </a:ln>
        </p:spPr>
        <p:txBody>
          <a:bodyPr/>
          <a:p/>
        </p:txBody>
      </p:sp>
      <p:sp>
        <p:nvSpPr>
          <p:cNvPr id="17" name="Shape 15"/>
          <p:cNvSpPr/>
          <p:nvPr/>
        </p:nvSpPr>
        <p:spPr>
          <a:xfrm>
            <a:off x="2971800" y="3355848"/>
            <a:ext cx="4699833" cy="219456"/>
          </a:xfrm>
          <a:prstGeom prst="rect">
            <a:avLst/>
          </a:prstGeom>
          <a:solidFill>
            <a:srgbClr val="EE352E"/>
          </a:solidFill>
          <a:ln w="12700">
            <a:solidFill>
              <a:srgbClr val="EE352E"/>
            </a:solidFill>
            <a:prstDash val="solid"/>
          </a:ln>
        </p:spPr>
        <p:txBody>
          <a:bodyPr/>
          <a:p/>
        </p:txBody>
      </p:sp>
      <p:sp>
        <p:nvSpPr>
          <p:cNvPr id="18" name="Text 16"/>
          <p:cNvSpPr/>
          <p:nvPr/>
        </p:nvSpPr>
        <p:spPr>
          <a:xfrm>
            <a:off x="8823960" y="3291840"/>
            <a:ext cx="685800" cy="228600"/>
          </a:xfrm>
          <a:prstGeom prst="rect">
            <a:avLst/>
          </a:prstGeom>
          <a:noFill/>
          <a:ln/>
        </p:spPr>
        <p:txBody>
          <a:bodyPr wrap="square" lIns="0" tIns="0" rIns="0" bIns="0" rtlCol="0" anchor="ctr"/>
          <a:lstStyle/>
          <a:p>
            <a:pPr indent="0" marL="0">
              <a:buNone/>
            </a:pPr>
            <a:r>
              <a:rPr lang="en-US" sz="1200" b="1" dirty="0">
                <a:solidFill>
                  <a:srgbClr val="EE352E"/>
                </a:solidFill>
              </a:rPr>
              <a:t>0.829</a:t>
            </a:r>
            <a:endParaRPr lang="en-US" sz="1200" dirty="0"/>
          </a:p>
        </p:txBody>
      </p:sp>
      <p:sp>
        <p:nvSpPr>
          <p:cNvPr id="19" name="Text 17"/>
          <p:cNvSpPr/>
          <p:nvPr/>
        </p:nvSpPr>
        <p:spPr>
          <a:xfrm>
            <a:off x="914400" y="4142232"/>
            <a:ext cx="1828800" cy="228600"/>
          </a:xfrm>
          <a:prstGeom prst="rect">
            <a:avLst/>
          </a:prstGeom>
          <a:noFill/>
          <a:ln/>
        </p:spPr>
        <p:txBody>
          <a:bodyPr wrap="square" lIns="0" tIns="0" rIns="0" bIns="0" rtlCol="0" anchor="ctr"/>
          <a:lstStyle/>
          <a:p>
            <a:pPr indent="0" marL="0">
              <a:buNone/>
            </a:pPr>
            <a:r>
              <a:rPr lang="en-US" sz="1200" b="1" dirty="0">
                <a:solidFill>
                  <a:srgbClr val="F7F9FB"/>
                </a:solidFill>
              </a:rPr>
              <a:t>Full linked model</a:t>
            </a:r>
            <a:endParaRPr lang="en-US" sz="1200" dirty="0"/>
          </a:p>
        </p:txBody>
      </p:sp>
      <p:sp>
        <p:nvSpPr>
          <p:cNvPr id="20" name="Shape 18"/>
          <p:cNvSpPr/>
          <p:nvPr/>
        </p:nvSpPr>
        <p:spPr>
          <a:xfrm>
            <a:off x="2971800" y="4178808"/>
            <a:ext cx="5669280" cy="219456"/>
          </a:xfrm>
          <a:prstGeom prst="rect">
            <a:avLst/>
          </a:prstGeom>
          <a:solidFill>
            <a:srgbClr val="263A4C"/>
          </a:solidFill>
          <a:ln w="12700">
            <a:solidFill>
              <a:srgbClr val="263A4C"/>
            </a:solidFill>
            <a:prstDash val="solid"/>
          </a:ln>
        </p:spPr>
        <p:txBody>
          <a:bodyPr/>
          <a:p/>
        </p:txBody>
      </p:sp>
      <p:sp>
        <p:nvSpPr>
          <p:cNvPr id="21" name="Shape 19"/>
          <p:cNvSpPr/>
          <p:nvPr/>
        </p:nvSpPr>
        <p:spPr>
          <a:xfrm>
            <a:off x="2971800" y="4178808"/>
            <a:ext cx="4796211" cy="219456"/>
          </a:xfrm>
          <a:prstGeom prst="rect">
            <a:avLst/>
          </a:prstGeom>
          <a:solidFill>
            <a:srgbClr val="FFC928"/>
          </a:solidFill>
          <a:ln w="12700">
            <a:solidFill>
              <a:srgbClr val="FFC928"/>
            </a:solidFill>
            <a:prstDash val="solid"/>
          </a:ln>
        </p:spPr>
        <p:txBody>
          <a:bodyPr/>
          <a:p/>
        </p:txBody>
      </p:sp>
      <p:sp>
        <p:nvSpPr>
          <p:cNvPr id="22" name="Text 20"/>
          <p:cNvSpPr/>
          <p:nvPr/>
        </p:nvSpPr>
        <p:spPr>
          <a:xfrm>
            <a:off x="8823960" y="4114800"/>
            <a:ext cx="685800" cy="228600"/>
          </a:xfrm>
          <a:prstGeom prst="rect">
            <a:avLst/>
          </a:prstGeom>
          <a:noFill/>
          <a:ln/>
        </p:spPr>
        <p:txBody>
          <a:bodyPr wrap="square" lIns="0" tIns="0" rIns="0" bIns="0" rtlCol="0" anchor="ctr"/>
          <a:lstStyle/>
          <a:p>
            <a:pPr indent="0" marL="0">
              <a:buNone/>
            </a:pPr>
            <a:r>
              <a:rPr lang="en-US" sz="1200" b="1" dirty="0">
                <a:solidFill>
                  <a:srgbClr val="FFC928"/>
                </a:solidFill>
              </a:rPr>
              <a:t>0.846</a:t>
            </a:r>
            <a:endParaRPr lang="en-US" sz="1200" dirty="0"/>
          </a:p>
        </p:txBody>
      </p:sp>
      <p:pic>
        <p:nvPicPr>
          <p:cNvPr id="2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21240" y="1097280"/>
            <a:ext cx="1325880" cy="822960"/>
          </a:xfrm>
          <a:prstGeom prst="rect">
            <a:avLst/>
          </a:prstGeom>
        </p:spPr>
      </p:pic>
      <p:pic>
        <p:nvPicPr>
          <p:cNvPr id="2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21240" y="2423160"/>
            <a:ext cx="1097280" cy="685800"/>
          </a:xfrm>
          <a:prstGeom prst="rect">
            <a:avLst/>
          </a:prstGeom>
        </p:spPr>
      </p:pic>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21240" y="3657600"/>
            <a:ext cx="1051560" cy="685800"/>
          </a:xfrm>
          <a:prstGeom prst="rect">
            <a:avLst/>
          </a:prstGeom>
        </p:spPr>
      </p:pic>
      <p:sp>
        <p:nvSpPr>
          <p:cNvPr id="26" name="Text 21"/>
          <p:cNvSpPr/>
          <p:nvPr/>
        </p:nvSpPr>
        <p:spPr>
          <a:xfrm>
            <a:off x="914400" y="4892040"/>
            <a:ext cx="1920240" cy="201168"/>
          </a:xfrm>
          <a:prstGeom prst="rect">
            <a:avLst/>
          </a:prstGeom>
          <a:noFill/>
          <a:ln/>
        </p:spPr>
        <p:txBody>
          <a:bodyPr wrap="square" lIns="0" tIns="0" rIns="0" bIns="0" rtlCol="0" anchor="ctr"/>
          <a:lstStyle/>
          <a:p>
            <a:pPr indent="0" marL="0">
              <a:buNone/>
            </a:pPr>
            <a:r>
              <a:rPr lang="en-US" sz="1200" b="1" dirty="0">
                <a:solidFill>
                  <a:srgbClr val="FFC928"/>
                </a:solidFill>
              </a:rPr>
              <a:t>Main message</a:t>
            </a:r>
            <a:endParaRPr lang="en-US" sz="1200" dirty="0"/>
          </a:p>
        </p:txBody>
      </p:sp>
      <p:sp>
        <p:nvSpPr>
          <p:cNvPr id="27" name="Text 22"/>
          <p:cNvSpPr/>
          <p:nvPr/>
        </p:nvSpPr>
        <p:spPr>
          <a:xfrm>
            <a:off x="914400" y="5257800"/>
            <a:ext cx="7772400" cy="256032"/>
          </a:xfrm>
          <a:prstGeom prst="rect">
            <a:avLst/>
          </a:prstGeom>
          <a:noFill/>
          <a:ln/>
        </p:spPr>
        <p:txBody>
          <a:bodyPr wrap="square" lIns="0" tIns="0" rIns="0" bIns="0" rtlCol="0" anchor="ctr"/>
          <a:lstStyle/>
          <a:p>
            <a:pPr indent="0" marL="0">
              <a:buNone/>
            </a:pPr>
            <a:r>
              <a:rPr lang="en-US" sz="1500" dirty="0">
                <a:solidFill>
                  <a:srgbClr val="F7F9FB"/>
                </a:solidFill>
              </a:rPr>
              <a:t>The person and vehicle tables add predictive structure.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Model behavior: predictive, not causal</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8</a:t>
            </a:r>
            <a:endParaRPr lang="en-US" sz="800" dirty="0"/>
          </a:p>
        </p:txBody>
      </p:sp>
      <p:pic>
        <p:nvPicPr>
          <p:cNvPr id="6" name="Image 0" descr="/mnt/data/latest_outputs/figures/fig_feature_importance.png">    </p:cNvPr>
          <p:cNvPicPr>
            <a:picLocks noChangeAspect="1"/>
          </p:cNvPicPr>
          <p:nvPr/>
        </p:nvPicPr>
        <p:blipFill>
          <a:blip r:embed="rId1"/>
          <a:stretch>
            <a:fillRect/>
          </a:stretch>
        </p:blipFill>
        <p:spPr>
          <a:xfrm>
            <a:off x="411480" y="949422"/>
            <a:ext cx="5806440" cy="4319076"/>
          </a:xfrm>
          <a:prstGeom prst="rect">
            <a:avLst/>
          </a:prstGeom>
        </p:spPr>
      </p:pic>
      <p:pic>
        <p:nvPicPr>
          <p:cNvPr id="7" name="Image 1" descr="/mnt/data/latest_outputs/figures/fig_confusion_matrix_best.png">    </p:cNvPr>
          <p:cNvPicPr>
            <a:picLocks noChangeAspect="1"/>
          </p:cNvPicPr>
          <p:nvPr/>
        </p:nvPicPr>
        <p:blipFill>
          <a:blip r:embed="rId2"/>
          <a:stretch>
            <a:fillRect/>
          </a:stretch>
        </p:blipFill>
        <p:spPr>
          <a:xfrm>
            <a:off x="6446520" y="1374123"/>
            <a:ext cx="4297680" cy="3286793"/>
          </a:xfrm>
          <a:prstGeom prst="rect">
            <a:avLst/>
          </a:prstGeom>
        </p:spPr>
      </p:pic>
      <p:pic>
        <p:nvPicPr>
          <p:cNvPr id="8"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5640" y="1005840"/>
            <a:ext cx="640080" cy="640080"/>
          </a:xfrm>
          <a:prstGeom prst="rect">
            <a:avLst/>
          </a:prstGeom>
        </p:spPr>
      </p:pic>
      <p:sp>
        <p:nvSpPr>
          <p:cNvPr id="9" name="Text 4"/>
          <p:cNvSpPr/>
          <p:nvPr/>
        </p:nvSpPr>
        <p:spPr>
          <a:xfrm>
            <a:off x="6446520" y="5257800"/>
            <a:ext cx="2011680" cy="256032"/>
          </a:xfrm>
          <a:prstGeom prst="rect">
            <a:avLst/>
          </a:prstGeom>
          <a:noFill/>
          <a:ln/>
        </p:spPr>
        <p:txBody>
          <a:bodyPr wrap="square" lIns="0" tIns="0" rIns="0" bIns="0" rtlCol="0" anchor="ctr"/>
          <a:lstStyle/>
          <a:p>
            <a:pPr indent="0" marL="0">
              <a:buNone/>
            </a:pPr>
            <a:r>
              <a:rPr lang="en-US" sz="1400" b="1" dirty="0">
                <a:solidFill>
                  <a:srgbClr val="FFC928"/>
                </a:solidFill>
              </a:rPr>
              <a:t>Interpret carefully</a:t>
            </a:r>
            <a:endParaRPr lang="en-US" sz="1400" dirty="0"/>
          </a:p>
        </p:txBody>
      </p:sp>
      <p:sp>
        <p:nvSpPr>
          <p:cNvPr id="10" name="Text 5"/>
          <p:cNvSpPr/>
          <p:nvPr/>
        </p:nvSpPr>
        <p:spPr>
          <a:xfrm>
            <a:off x="6446520" y="5559552"/>
            <a:ext cx="4114800" cy="274320"/>
          </a:xfrm>
          <a:prstGeom prst="rect">
            <a:avLst/>
          </a:prstGeom>
          <a:noFill/>
          <a:ln/>
        </p:spPr>
        <p:txBody>
          <a:bodyPr wrap="square" lIns="0" tIns="0" rIns="0" bIns="0" rtlCol="0" anchor="ctr">
            <a:normAutofit/>
          </a:bodyPr>
          <a:lstStyle/>
          <a:p>
            <a:pPr indent="0" marL="0">
              <a:buNone/>
            </a:pPr>
            <a:r>
              <a:rPr lang="en-US" sz="1080" dirty="0">
                <a:solidFill>
                  <a:srgbClr val="D7DEE8"/>
                </a:solidFill>
              </a:rPr>
              <a:t>Top features summarize exposure, reporting, road-user mix, and location context.</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Unsupervised extension: crash archetypes</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9</a:t>
            </a:r>
            <a:endParaRPr lang="en-US" sz="800" dirty="0"/>
          </a:p>
        </p:txBody>
      </p:sp>
      <p:pic>
        <p:nvPicPr>
          <p:cNvPr id="6" name="Image 0" descr="/mnt/data/latest_outputs/figures/fig_pca_clusters.png">    </p:cNvPr>
          <p:cNvPicPr>
            <a:picLocks noChangeAspect="1"/>
          </p:cNvPicPr>
          <p:nvPr/>
        </p:nvPicPr>
        <p:blipFill>
          <a:blip r:embed="rId1"/>
          <a:stretch>
            <a:fillRect/>
          </a:stretch>
        </p:blipFill>
        <p:spPr>
          <a:xfrm>
            <a:off x="548640" y="983651"/>
            <a:ext cx="5623560" cy="4387778"/>
          </a:xfrm>
          <a:prstGeom prst="rect">
            <a:avLst/>
          </a:prstGeom>
        </p:spPr>
      </p:pic>
      <p:pic>
        <p:nvPicPr>
          <p:cNvPr id="7" name="Image 1" descr="/mnt/data/latest_outputs/figures/fig_kmeans_elbow.png">    </p:cNvPr>
          <p:cNvPicPr>
            <a:picLocks noChangeAspect="1"/>
          </p:cNvPicPr>
          <p:nvPr/>
        </p:nvPicPr>
        <p:blipFill>
          <a:blip r:embed="rId2"/>
          <a:stretch>
            <a:fillRect/>
          </a:stretch>
        </p:blipFill>
        <p:spPr>
          <a:xfrm>
            <a:off x="6492240" y="1194408"/>
            <a:ext cx="4297680" cy="2823264"/>
          </a:xfrm>
          <a:prstGeom prst="rect">
            <a:avLst/>
          </a:prstGeom>
        </p:spPr>
      </p:pic>
      <p:sp>
        <p:nvSpPr>
          <p:cNvPr id="8" name="Shape 4"/>
          <p:cNvSpPr/>
          <p:nvPr/>
        </p:nvSpPr>
        <p:spPr>
          <a:xfrm>
            <a:off x="6492240" y="4617720"/>
            <a:ext cx="1920240" cy="960120"/>
          </a:xfrm>
          <a:prstGeom prst="roundRect">
            <a:avLst>
              <a:gd name="adj" fmla="val 7619"/>
            </a:avLst>
          </a:prstGeom>
          <a:solidFill>
            <a:srgbClr val="0B263D"/>
          </a:solidFill>
          <a:ln w="15240">
            <a:solidFill>
              <a:srgbClr val="FFC928">
                <a:alpha val="60000"/>
              </a:srgbClr>
            </a:solidFill>
            <a:prstDash val="solid"/>
          </a:ln>
        </p:spPr>
        <p:txBody>
          <a:bodyPr/>
          <a:p/>
        </p:txBody>
      </p:sp>
      <p:sp>
        <p:nvSpPr>
          <p:cNvPr id="9" name="Text 5"/>
          <p:cNvSpPr/>
          <p:nvPr/>
        </p:nvSpPr>
        <p:spPr>
          <a:xfrm>
            <a:off x="6638544" y="4782312"/>
            <a:ext cx="1627632" cy="320040"/>
          </a:xfrm>
          <a:prstGeom prst="rect">
            <a:avLst/>
          </a:prstGeom>
          <a:noFill/>
          <a:ln/>
        </p:spPr>
        <p:txBody>
          <a:bodyPr wrap="square" lIns="0" tIns="0" rIns="0" bIns="0" rtlCol="0" anchor="ctr"/>
          <a:lstStyle/>
          <a:p>
            <a:pPr indent="0" marL="0">
              <a:buNone/>
            </a:pPr>
            <a:r>
              <a:rPr lang="en-US" sz="2000" b="1" dirty="0">
                <a:solidFill>
                  <a:srgbClr val="FFC928"/>
                </a:solidFill>
                <a:latin typeface="Aptos Display" pitchFamily="34" charset="0"/>
                <a:ea typeface="Aptos Display" pitchFamily="34" charset="-122"/>
                <a:cs typeface="Aptos Display" pitchFamily="34" charset="-120"/>
              </a:rPr>
              <a:t>61</a:t>
            </a:r>
            <a:endParaRPr lang="en-US" sz="2000" dirty="0"/>
          </a:p>
        </p:txBody>
      </p:sp>
      <p:sp>
        <p:nvSpPr>
          <p:cNvPr id="10" name="Text 6"/>
          <p:cNvSpPr/>
          <p:nvPr/>
        </p:nvSpPr>
        <p:spPr>
          <a:xfrm>
            <a:off x="6638544" y="5184648"/>
            <a:ext cx="162763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ZIP-code groups clustered</a:t>
            </a:r>
            <a:endParaRPr lang="en-US" sz="850" dirty="0"/>
          </a:p>
        </p:txBody>
      </p:sp>
      <p:sp>
        <p:nvSpPr>
          <p:cNvPr id="11" name="Shape 7"/>
          <p:cNvSpPr/>
          <p:nvPr/>
        </p:nvSpPr>
        <p:spPr>
          <a:xfrm>
            <a:off x="8732520" y="4617720"/>
            <a:ext cx="2011680" cy="960120"/>
          </a:xfrm>
          <a:prstGeom prst="roundRect">
            <a:avLst>
              <a:gd name="adj" fmla="val 7619"/>
            </a:avLst>
          </a:prstGeom>
          <a:solidFill>
            <a:srgbClr val="0B263D"/>
          </a:solidFill>
          <a:ln w="15240">
            <a:solidFill>
              <a:srgbClr val="0B6E4F">
                <a:alpha val="60000"/>
              </a:srgbClr>
            </a:solidFill>
            <a:prstDash val="solid"/>
          </a:ln>
        </p:spPr>
        <p:txBody>
          <a:bodyPr/>
          <a:p/>
        </p:txBody>
      </p:sp>
      <p:sp>
        <p:nvSpPr>
          <p:cNvPr id="12" name="Text 8"/>
          <p:cNvSpPr/>
          <p:nvPr/>
        </p:nvSpPr>
        <p:spPr>
          <a:xfrm>
            <a:off x="8878824" y="4782312"/>
            <a:ext cx="1719072" cy="320040"/>
          </a:xfrm>
          <a:prstGeom prst="rect">
            <a:avLst/>
          </a:prstGeom>
          <a:noFill/>
          <a:ln/>
        </p:spPr>
        <p:txBody>
          <a:bodyPr wrap="square" lIns="0" tIns="0" rIns="0" bIns="0" rtlCol="0" anchor="ctr"/>
          <a:lstStyle/>
          <a:p>
            <a:pPr indent="0" marL="0">
              <a:buNone/>
            </a:pPr>
            <a:r>
              <a:rPr lang="en-US" sz="2000" b="1" dirty="0">
                <a:solidFill>
                  <a:srgbClr val="0B6E4F"/>
                </a:solidFill>
                <a:latin typeface="Aptos Display" pitchFamily="34" charset="0"/>
                <a:ea typeface="Aptos Display" pitchFamily="34" charset="-122"/>
                <a:cs typeface="Aptos Display" pitchFamily="34" charset="-120"/>
              </a:rPr>
              <a:t>k = 2</a:t>
            </a:r>
            <a:endParaRPr lang="en-US" sz="2000" dirty="0"/>
          </a:p>
        </p:txBody>
      </p:sp>
      <p:sp>
        <p:nvSpPr>
          <p:cNvPr id="13" name="Text 9"/>
          <p:cNvSpPr/>
          <p:nvPr/>
        </p:nvSpPr>
        <p:spPr>
          <a:xfrm>
            <a:off x="8878824" y="5184648"/>
            <a:ext cx="1719072" cy="228600"/>
          </a:xfrm>
          <a:prstGeom prst="rect">
            <a:avLst/>
          </a:prstGeom>
          <a:noFill/>
          <a:ln/>
        </p:spPr>
        <p:txBody>
          <a:bodyPr wrap="square" lIns="0" tIns="0" rIns="0" bIns="0" rtlCol="0" anchor="ctr">
            <a:normAutofit/>
          </a:bodyPr>
          <a:lstStyle/>
          <a:p>
            <a:pPr indent="0" marL="0">
              <a:buNone/>
            </a:pPr>
            <a:r>
              <a:rPr lang="en-US" sz="850" dirty="0">
                <a:solidFill>
                  <a:srgbClr val="D7DEE8"/>
                </a:solidFill>
                <a:latin typeface="Aptos" pitchFamily="34" charset="0"/>
                <a:ea typeface="Aptos" pitchFamily="34" charset="-122"/>
                <a:cs typeface="Aptos" pitchFamily="34" charset="-120"/>
              </a:rPr>
              <a:t>selected by silhouette</a:t>
            </a:r>
            <a:endParaRPr lang="en-US" sz="850" dirty="0"/>
          </a:p>
        </p:txBody>
      </p:sp>
      <p:sp>
        <p:nvSpPr>
          <p:cNvPr id="14" name="Text 10"/>
          <p:cNvSpPr/>
          <p:nvPr/>
        </p:nvSpPr>
        <p:spPr>
          <a:xfrm>
            <a:off x="822960" y="5596128"/>
            <a:ext cx="7406640" cy="228600"/>
          </a:xfrm>
          <a:prstGeom prst="rect">
            <a:avLst/>
          </a:prstGeom>
          <a:noFill/>
          <a:ln/>
        </p:spPr>
        <p:txBody>
          <a:bodyPr wrap="square" lIns="0" tIns="0" rIns="0" bIns="0" rtlCol="0" anchor="ctr"/>
          <a:lstStyle/>
          <a:p>
            <a:pPr indent="0" marL="0">
              <a:buNone/>
            </a:pPr>
            <a:r>
              <a:rPr lang="en-US" sz="1150" dirty="0">
                <a:solidFill>
                  <a:srgbClr val="D7DEE8"/>
                </a:solidFill>
              </a:rPr>
              <a:t>Clusters separated more by involvement mix and timing than by raw injury rate.</a:t>
            </a:r>
            <a:endParaRPr lang="en-US" sz="1150" dirty="0"/>
          </a:p>
        </p:txBody>
      </p:sp>
      <p:pic>
        <p:nvPicPr>
          <p:cNvPr id="15"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5640" y="4828032"/>
            <a:ext cx="731520" cy="594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C2F"/>
        </a:solidFill>
      </p:bgPr>
    </p:bg>
    <p:spTree>
      <p:nvGrpSpPr>
        <p:cNvPr id="1" name=""/>
        <p:cNvGrpSpPr/>
        <p:nvPr/>
      </p:nvGrpSpPr>
      <p:grpSpPr>
        <a:xfrm>
          <a:off x="0" y="0"/>
          <a:ext cx="0" cy="0"/>
          <a:chOff x="0" y="0"/>
          <a:chExt cx="0" cy="0"/>
        </a:xfrm>
      </p:grpSpPr>
      <p:sp>
        <p:nvSpPr>
          <p:cNvPr id="2" name="Shape 0"/>
          <p:cNvSpPr/>
          <p:nvPr/>
        </p:nvSpPr>
        <p:spPr>
          <a:xfrm>
            <a:off x="182880" y="6419088"/>
            <a:ext cx="11795760" cy="0"/>
          </a:xfrm>
          <a:prstGeom prst="line">
            <a:avLst/>
          </a:prstGeom>
          <a:noFill/>
          <a:ln w="12700">
            <a:solidFill>
              <a:srgbClr val="FFC928"/>
            </a:solidFill>
            <a:prstDash val="solid"/>
          </a:ln>
        </p:spPr>
        <p:txBody>
          <a:bodyPr/>
          <a:p/>
        </p:txBody>
      </p:sp>
      <p:sp>
        <p:nvSpPr>
          <p:cNvPr id="3" name="Text 1"/>
          <p:cNvSpPr/>
          <p:nvPr/>
        </p:nvSpPr>
        <p:spPr>
          <a:xfrm>
            <a:off x="457200" y="310896"/>
            <a:ext cx="9509760" cy="457200"/>
          </a:xfrm>
          <a:prstGeom prst="rect">
            <a:avLst/>
          </a:prstGeom>
          <a:noFill/>
          <a:ln/>
        </p:spPr>
        <p:txBody>
          <a:bodyPr wrap="square" lIns="0" tIns="0" rIns="0" bIns="0" rtlCol="0" anchor="ctr"/>
          <a:lstStyle/>
          <a:p>
            <a:pPr indent="0" marL="0">
              <a:buNone/>
            </a:pPr>
            <a:r>
              <a:rPr lang="en-US" sz="2400" b="1" dirty="0">
                <a:solidFill>
                  <a:srgbClr val="F7F9FB"/>
                </a:solidFill>
                <a:latin typeface="Aptos Display" pitchFamily="34" charset="0"/>
                <a:ea typeface="Aptos Display" pitchFamily="34" charset="-122"/>
                <a:cs typeface="Aptos Display" pitchFamily="34" charset="-120"/>
              </a:rPr>
              <a:t>Takeaways</a:t>
            </a:r>
            <a:endParaRPr lang="en-US" sz="2400" dirty="0"/>
          </a:p>
        </p:txBody>
      </p:sp>
      <p:sp>
        <p:nvSpPr>
          <p:cNvPr id="4" name="Text 2"/>
          <p:cNvSpPr/>
          <p:nvPr/>
        </p:nvSpPr>
        <p:spPr>
          <a:xfrm>
            <a:off x="457200" y="6519672"/>
            <a:ext cx="5029200" cy="164592"/>
          </a:xfrm>
          <a:prstGeom prst="rect">
            <a:avLst/>
          </a:prstGeom>
          <a:noFill/>
          <a:ln/>
        </p:spPr>
        <p:txBody>
          <a:bodyPr wrap="square" lIns="0" tIns="0" rIns="0" bIns="0" rtlCol="0" anchor="ctr"/>
          <a:lstStyle/>
          <a:p>
            <a:pPr indent="0" marL="0">
              <a:buNone/>
            </a:pPr>
            <a:r>
              <a:rPr lang="en-US" sz="650" dirty="0">
                <a:solidFill>
                  <a:srgbClr val="AAB7C4"/>
                </a:solidFill>
                <a:latin typeface="Aptos" pitchFamily="34" charset="0"/>
                <a:ea typeface="Aptos" pitchFamily="34" charset="-122"/>
                <a:cs typeface="Aptos" pitchFamily="34" charset="-120"/>
              </a:rPr>
              <a:t>Alan Nemkovsky  •  Section 05  •  an1078</a:t>
            </a:r>
            <a:endParaRPr lang="en-US" sz="650" dirty="0"/>
          </a:p>
        </p:txBody>
      </p:sp>
      <p:sp>
        <p:nvSpPr>
          <p:cNvPr id="5" name="Text 3"/>
          <p:cNvSpPr/>
          <p:nvPr/>
        </p:nvSpPr>
        <p:spPr>
          <a:xfrm>
            <a:off x="11567160" y="6473952"/>
            <a:ext cx="228600" cy="182880"/>
          </a:xfrm>
          <a:prstGeom prst="rect">
            <a:avLst/>
          </a:prstGeom>
          <a:noFill/>
          <a:ln/>
        </p:spPr>
        <p:txBody>
          <a:bodyPr wrap="square" lIns="0" tIns="0" rIns="0" bIns="0" rtlCol="0" anchor="ctr"/>
          <a:lstStyle/>
          <a:p>
            <a:pPr algn="r" indent="0" marL="0">
              <a:buNone/>
            </a:pPr>
            <a:r>
              <a:rPr lang="en-US" sz="800" dirty="0">
                <a:solidFill>
                  <a:srgbClr val="AAB7C4"/>
                </a:solidFill>
                <a:latin typeface="Aptos" pitchFamily="34" charset="0"/>
                <a:ea typeface="Aptos" pitchFamily="34" charset="-122"/>
                <a:cs typeface="Aptos" pitchFamily="34" charset="-120"/>
              </a:rPr>
              <a:t>10</a:t>
            </a:r>
            <a:endParaRPr lang="en-US" sz="8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61120" y="777240"/>
            <a:ext cx="1828800" cy="1051560"/>
          </a:xfrm>
          <a:prstGeom prst="rect">
            <a:avLst/>
          </a:prstGeom>
        </p:spPr>
      </p:pic>
      <p:sp>
        <p:nvSpPr>
          <p:cNvPr id="7" name="Text 4"/>
          <p:cNvSpPr/>
          <p:nvPr/>
        </p:nvSpPr>
        <p:spPr>
          <a:xfrm>
            <a:off x="685800" y="1143000"/>
            <a:ext cx="1828800" cy="320040"/>
          </a:xfrm>
          <a:prstGeom prst="rect">
            <a:avLst/>
          </a:prstGeom>
          <a:noFill/>
          <a:ln/>
        </p:spPr>
        <p:txBody>
          <a:bodyPr wrap="square" lIns="0" tIns="0" rIns="0" bIns="0" rtlCol="0" anchor="ctr"/>
          <a:lstStyle/>
          <a:p>
            <a:pPr indent="0" marL="0">
              <a:buNone/>
            </a:pPr>
            <a:r>
              <a:rPr lang="en-US" sz="2000" b="1" dirty="0">
                <a:solidFill>
                  <a:srgbClr val="FFC928"/>
                </a:solidFill>
              </a:rPr>
              <a:t>What I found</a:t>
            </a:r>
            <a:endParaRPr lang="en-US" sz="2000" dirty="0"/>
          </a:p>
        </p:txBody>
      </p:sp>
      <p:sp>
        <p:nvSpPr>
          <p:cNvPr id="8" name="Shape 5"/>
          <p:cNvSpPr/>
          <p:nvPr/>
        </p:nvSpPr>
        <p:spPr>
          <a:xfrm>
            <a:off x="777240" y="1847088"/>
            <a:ext cx="201168" cy="201168"/>
          </a:xfrm>
          <a:prstGeom prst="ellipse">
            <a:avLst/>
          </a:prstGeom>
          <a:solidFill>
            <a:srgbClr val="0B6E4F"/>
          </a:solidFill>
          <a:ln w="12700">
            <a:solidFill>
              <a:srgbClr val="0B6E4F"/>
            </a:solidFill>
            <a:prstDash val="solid"/>
          </a:ln>
        </p:spPr>
        <p:txBody>
          <a:bodyPr/>
          <a:p/>
        </p:txBody>
      </p:sp>
      <p:sp>
        <p:nvSpPr>
          <p:cNvPr id="9" name="Text 6"/>
          <p:cNvSpPr/>
          <p:nvPr/>
        </p:nvSpPr>
        <p:spPr>
          <a:xfrm>
            <a:off x="1143000" y="1810512"/>
            <a:ext cx="5669280" cy="256032"/>
          </a:xfrm>
          <a:prstGeom prst="rect">
            <a:avLst/>
          </a:prstGeom>
          <a:noFill/>
          <a:ln/>
        </p:spPr>
        <p:txBody>
          <a:bodyPr wrap="square" lIns="0" tIns="0" rIns="0" bIns="0" rtlCol="0" anchor="ctr"/>
          <a:lstStyle/>
          <a:p>
            <a:pPr indent="0" marL="0">
              <a:buNone/>
            </a:pPr>
            <a:r>
              <a:rPr lang="en-US" sz="1800" b="1" dirty="0">
                <a:solidFill>
                  <a:srgbClr val="F7F9FB"/>
                </a:solidFill>
              </a:rPr>
              <a:t>Linked tables improved prediction</a:t>
            </a:r>
            <a:endParaRPr lang="en-US" sz="1800" dirty="0"/>
          </a:p>
        </p:txBody>
      </p:sp>
      <p:sp>
        <p:nvSpPr>
          <p:cNvPr id="10" name="Shape 7"/>
          <p:cNvSpPr/>
          <p:nvPr/>
        </p:nvSpPr>
        <p:spPr>
          <a:xfrm>
            <a:off x="777240" y="2532888"/>
            <a:ext cx="201168" cy="201168"/>
          </a:xfrm>
          <a:prstGeom prst="ellipse">
            <a:avLst/>
          </a:prstGeom>
          <a:solidFill>
            <a:srgbClr val="FFC928"/>
          </a:solidFill>
          <a:ln w="12700">
            <a:solidFill>
              <a:srgbClr val="FFC928"/>
            </a:solidFill>
            <a:prstDash val="solid"/>
          </a:ln>
        </p:spPr>
        <p:txBody>
          <a:bodyPr/>
          <a:p/>
        </p:txBody>
      </p:sp>
      <p:sp>
        <p:nvSpPr>
          <p:cNvPr id="11" name="Text 8"/>
          <p:cNvSpPr/>
          <p:nvPr/>
        </p:nvSpPr>
        <p:spPr>
          <a:xfrm>
            <a:off x="1143000" y="2496312"/>
            <a:ext cx="5669280" cy="256032"/>
          </a:xfrm>
          <a:prstGeom prst="rect">
            <a:avLst/>
          </a:prstGeom>
          <a:noFill/>
          <a:ln/>
        </p:spPr>
        <p:txBody>
          <a:bodyPr wrap="square" lIns="0" tIns="0" rIns="0" bIns="0" rtlCol="0" anchor="ctr"/>
          <a:lstStyle/>
          <a:p>
            <a:pPr indent="0" marL="0">
              <a:buNone/>
            </a:pPr>
            <a:r>
              <a:rPr lang="en-US" sz="1800" b="1" dirty="0">
                <a:solidFill>
                  <a:srgbClr val="F7F9FB"/>
                </a:solidFill>
              </a:rPr>
              <a:t>XGBoost performed best on 2025</a:t>
            </a:r>
            <a:endParaRPr lang="en-US" sz="1800" dirty="0"/>
          </a:p>
        </p:txBody>
      </p:sp>
      <p:sp>
        <p:nvSpPr>
          <p:cNvPr id="12" name="Shape 9"/>
          <p:cNvSpPr/>
          <p:nvPr/>
        </p:nvSpPr>
        <p:spPr>
          <a:xfrm>
            <a:off x="777240" y="3218688"/>
            <a:ext cx="201168" cy="201168"/>
          </a:xfrm>
          <a:prstGeom prst="ellipse">
            <a:avLst/>
          </a:prstGeom>
          <a:solidFill>
            <a:srgbClr val="EE352E"/>
          </a:solidFill>
          <a:ln w="12700">
            <a:solidFill>
              <a:srgbClr val="EE352E"/>
            </a:solidFill>
            <a:prstDash val="solid"/>
          </a:ln>
        </p:spPr>
        <p:txBody>
          <a:bodyPr/>
          <a:p/>
        </p:txBody>
      </p:sp>
      <p:sp>
        <p:nvSpPr>
          <p:cNvPr id="13" name="Text 10"/>
          <p:cNvSpPr/>
          <p:nvPr/>
        </p:nvSpPr>
        <p:spPr>
          <a:xfrm>
            <a:off x="1143000" y="3182112"/>
            <a:ext cx="5669280" cy="256032"/>
          </a:xfrm>
          <a:prstGeom prst="rect">
            <a:avLst/>
          </a:prstGeom>
          <a:noFill/>
          <a:ln/>
        </p:spPr>
        <p:txBody>
          <a:bodyPr wrap="square" lIns="0" tIns="0" rIns="0" bIns="0" rtlCol="0" anchor="ctr"/>
          <a:lstStyle/>
          <a:p>
            <a:pPr indent="0" marL="0">
              <a:buNone/>
            </a:pPr>
            <a:r>
              <a:rPr lang="en-US" sz="1800" b="1" dirty="0">
                <a:solidFill>
                  <a:srgbClr val="F7F9FB"/>
                </a:solidFill>
              </a:rPr>
              <a:t>Results are associations, not causes</a:t>
            </a:r>
            <a:endParaRPr lang="en-US" sz="1800" dirty="0"/>
          </a:p>
        </p:txBody>
      </p:sp>
      <p:sp>
        <p:nvSpPr>
          <p:cNvPr id="14" name="Text 11"/>
          <p:cNvSpPr/>
          <p:nvPr/>
        </p:nvSpPr>
        <p:spPr>
          <a:xfrm>
            <a:off x="685800" y="4315968"/>
            <a:ext cx="1097280" cy="274320"/>
          </a:xfrm>
          <a:prstGeom prst="rect">
            <a:avLst/>
          </a:prstGeom>
          <a:noFill/>
          <a:ln/>
        </p:spPr>
        <p:txBody>
          <a:bodyPr wrap="square" lIns="0" tIns="0" rIns="0" bIns="0" rtlCol="0" anchor="ctr"/>
          <a:lstStyle/>
          <a:p>
            <a:pPr indent="0" marL="0">
              <a:buNone/>
            </a:pPr>
            <a:r>
              <a:rPr lang="en-US" sz="1500" b="1" dirty="0">
                <a:solidFill>
                  <a:srgbClr val="FFC928"/>
                </a:solidFill>
              </a:rPr>
              <a:t>Limits</a:t>
            </a:r>
            <a:endParaRPr lang="en-US" sz="1500" dirty="0"/>
          </a:p>
        </p:txBody>
      </p:sp>
      <p:sp>
        <p:nvSpPr>
          <p:cNvPr id="15" name="Text 12"/>
          <p:cNvSpPr/>
          <p:nvPr/>
        </p:nvSpPr>
        <p:spPr>
          <a:xfrm>
            <a:off x="685800" y="4626864"/>
            <a:ext cx="7040880" cy="201168"/>
          </a:xfrm>
          <a:prstGeom prst="rect">
            <a:avLst/>
          </a:prstGeom>
          <a:noFill/>
          <a:ln/>
        </p:spPr>
        <p:txBody>
          <a:bodyPr wrap="square" lIns="0" tIns="0" rIns="0" bIns="0" rtlCol="0" anchor="ctr"/>
          <a:lstStyle/>
          <a:p>
            <a:pPr indent="0" marL="0">
              <a:buNone/>
            </a:pPr>
            <a:r>
              <a:rPr lang="en-US" sz="1150" dirty="0">
                <a:solidFill>
                  <a:srgbClr val="D7DEE8"/>
                </a:solidFill>
              </a:rPr>
              <a:t>reported crashes only  •  no traffic exposure data  •  no causal claims</a:t>
            </a:r>
            <a:endParaRPr lang="en-US" sz="1150" dirty="0"/>
          </a:p>
        </p:txBody>
      </p:sp>
      <p:sp>
        <p:nvSpPr>
          <p:cNvPr id="17" name="Text 14"/>
          <p:cNvSpPr/>
          <p:nvPr/>
        </p:nvSpPr>
        <p:spPr>
          <a:xfrm>
            <a:off x="8961120" y="2743200"/>
            <a:ext cx="2011680" cy="512064"/>
          </a:xfrm>
          <a:prstGeom prst="rect">
            <a:avLst/>
          </a:prstGeom>
          <a:noFill/>
          <a:ln/>
        </p:spPr>
        <p:txBody>
          <a:bodyPr wrap="square" lIns="0" tIns="0" rIns="0" bIns="0" rtlCol="0" anchor="ctr"/>
          <a:lstStyle/>
          <a:p>
            <a:pPr algn="ctr" indent="0" marL="0">
              <a:buNone/>
            </a:pPr>
            <a:r>
              <a:rPr lang="en-US" sz="2800" b="1" dirty="0">
                <a:solidFill>
                  <a:srgbClr val="F7F9FB"/>
                </a:solidFill>
                <a:latin typeface="Aptos Display" pitchFamily="34" charset="0"/>
                <a:ea typeface="Aptos Display" pitchFamily="34" charset="-122"/>
                <a:cs typeface="Aptos Display" pitchFamily="34" charset="-120"/>
              </a:rPr>
              <a:t>I ♥ NYC</a:t>
            </a:r>
            <a:endParaRPr lang="en-US" sz="280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5480" y="3355848"/>
            <a:ext cx="548640" cy="502920"/>
          </a:xfrm>
          <a:prstGeom prst="rect">
            <a:avLst/>
          </a:prstGeom>
        </p:spPr>
      </p:pic>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44200" y="3931920"/>
            <a:ext cx="45720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Rutgers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Injury-Producing NYC Motor Vehicle Collisions</dc:title>
  <dc:subject>Predicting Injury-Producing NYC Motor Vehicle Collisions</dc:subject>
  <dc:creator>Alan Nemkovsky</dc:creator>
  <cp:lastModifiedBy>Alan Nemkovsky</cp:lastModifiedBy>
  <cp:revision>1</cp:revision>
  <dcterms:created xsi:type="dcterms:W3CDTF">2026-05-09T00:26:44Z</dcterms:created>
  <dcterms:modified xsi:type="dcterms:W3CDTF">2026-05-09T00:26:44Z</dcterms:modified>
</cp:coreProperties>
</file>